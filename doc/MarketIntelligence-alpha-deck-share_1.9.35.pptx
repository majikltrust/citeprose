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137"/>
  </p:normalViewPr>
  <p:slideViewPr>
    <p:cSldViewPr snapToGrid="0" snapToObjects="1">
      <p:cViewPr varScale="1">
        <p:scale>
          <a:sx n="116" d="100"/>
          <a:sy n="116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7247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3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7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280160"/>
            <a:ext cx="3840480" cy="3840480"/>
          </a:xfrm>
          <a:prstGeom prst="ellipse">
            <a:avLst/>
          </a:prstGeom>
          <a:solidFill>
            <a:srgbClr val="1922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82880" y="4572000"/>
            <a:ext cx="2743200" cy="2743200"/>
          </a:xfrm>
          <a:prstGeom prst="ellipse">
            <a:avLst/>
          </a:prstGeom>
          <a:solidFill>
            <a:srgbClr val="14213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640080"/>
            <a:ext cx="6126480" cy="5577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66928" y="1371600"/>
            <a:ext cx="6126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Intelligence</a:t>
            </a:r>
            <a:endParaRPr lang="en-US" sz="42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Content Agent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566928" y="36118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research in. Governed, on-brand posts out, published to your company page, with a human in command.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48920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66928" y="4892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alpha.majikl.com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578608" y="4892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Overview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5B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66928" y="402336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11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499616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· REWRITE WITH AI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749808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Reshape a draft without starting over.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869680" y="548640"/>
            <a:ext cx="566928" cy="566928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54633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39" y="1985711"/>
            <a:ext cx="289682" cy="28968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24128" y="17739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353312" y="1783080"/>
            <a:ext cx="5340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click, no prompt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Rewrite with AI and it reuses the post’s own topic, angle, and the research it was built on.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66928" y="27432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39" y="2900111"/>
            <a:ext cx="289682" cy="28968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24128" y="26883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353312" y="2697480"/>
            <a:ext cx="5340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Polishes, never fabricates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refine pass tightens and reframes the existing copy. It is metric-free, so it cannot invent a new number.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6576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39" y="3814511"/>
            <a:ext cx="289682" cy="2896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4128" y="36027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353312" y="3611880"/>
            <a:ext cx="5340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to draft for sign-off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Rewriting a post that was awaiting approval drops it back to draft, so a changed post is always re-approved.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566928" y="45720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39" y="4728911"/>
            <a:ext cx="289682" cy="28968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24128" y="45171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1353312" y="4526280"/>
            <a:ext cx="5340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and traceable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the edit_post permission, and every rewrite is logged exactly like a generation.</a:t>
            </a:r>
            <a:endParaRPr lang="en-US" sz="135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52360" y="1737360"/>
            <a:ext cx="4069080" cy="416052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566928" y="5532120"/>
            <a:ext cx="6080760" cy="566928"/>
          </a:xfrm>
          <a:prstGeom prst="roundRect">
            <a:avLst>
              <a:gd name="adj" fmla="val 12903"/>
            </a:avLst>
          </a:prstGeom>
          <a:solidFill>
            <a:srgbClr val="E7FB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0"/>
          <p:cNvSpPr/>
          <p:nvPr/>
        </p:nvSpPr>
        <p:spPr>
          <a:xfrm>
            <a:off x="731520" y="5541264"/>
            <a:ext cx="548640" cy="54864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5683910"/>
            <a:ext cx="263347" cy="263347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435608" y="553212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runs the same audited pipeline as Generate, on a separate metric-free prompt, so a polished draft stays as accountable as the original.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  <p:sp>
        <p:nvSpPr>
          <p:cNvPr id="31" name="5-Point Star 30">
            <a:extLst>
              <a:ext uri="{FF2B5EF4-FFF2-40B4-BE49-F238E27FC236}">
                <a16:creationId xmlns:a16="http://schemas.microsoft.com/office/drawing/2014/main" id="{CB3006B7-DFBE-97F0-725D-46680B4FC597}"/>
              </a:ext>
            </a:extLst>
          </p:cNvPr>
          <p:cNvSpPr/>
          <p:nvPr/>
        </p:nvSpPr>
        <p:spPr>
          <a:xfrm>
            <a:off x="370608" y="177039"/>
            <a:ext cx="467115" cy="363558"/>
          </a:xfrm>
          <a:prstGeom prst="star5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5B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66928" y="402336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11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499616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· PUBLISHING ON A FUTURE DATE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749808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it today. It posts itself next Tuesday.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869680" y="548640"/>
            <a:ext cx="566928" cy="566928"/>
          </a:xfrm>
          <a:prstGeom prst="ellipse">
            <a:avLst/>
          </a:prstGeom>
          <a:solidFill>
            <a:srgbClr val="F5B84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54633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39" y="1985711"/>
            <a:ext cx="289682" cy="28968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24128" y="17739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353312" y="1783080"/>
            <a:ext cx="5248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a ready post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post that has cleared approval and is ready to go out.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66928" y="27432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39" y="2900111"/>
            <a:ext cx="289682" cy="28968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24128" y="26883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353312" y="2697480"/>
            <a:ext cx="5248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future date &amp; time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Scheduled and set when it should publish. The system rejects any time that isn’t in the future.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6576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39" y="3814511"/>
            <a:ext cx="289682" cy="2896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4128" y="36027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353312" y="3611880"/>
            <a:ext cx="5248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joins the queue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 shows a Scheduled status with your chosen time and stays editable right up until it fires.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566928" y="45720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39" y="4728911"/>
            <a:ext cx="289682" cy="28968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24128" y="45171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1353312" y="4526280"/>
            <a:ext cx="5248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posts itself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that moment the scheduler publishes to your LinkedIn org page: posted, or failed / blocked, all tracked.</a:t>
            </a:r>
            <a:endParaRPr lang="en-US" sz="135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78040" y="1783080"/>
            <a:ext cx="4434840" cy="4087368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566928" y="5504688"/>
            <a:ext cx="5989320" cy="603504"/>
          </a:xfrm>
          <a:prstGeom prst="roundRect">
            <a:avLst>
              <a:gd name="adj" fmla="val 12121"/>
            </a:avLst>
          </a:prstGeom>
          <a:solidFill>
            <a:srgbClr val="E7FB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0"/>
          <p:cNvSpPr/>
          <p:nvPr/>
        </p:nvSpPr>
        <p:spPr>
          <a:xfrm>
            <a:off x="731520" y="5532120"/>
            <a:ext cx="548640" cy="54864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166" y="5674766"/>
            <a:ext cx="263347" cy="263347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435608" y="5504688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optional spacing rule keeps scheduled posts from bunching, separate from the always-on engine that paces autonomous posts (roughly 4 per 10 days, 72h apart).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  <p:sp>
        <p:nvSpPr>
          <p:cNvPr id="31" name="5-Point Star 30">
            <a:extLst>
              <a:ext uri="{FF2B5EF4-FFF2-40B4-BE49-F238E27FC236}">
                <a16:creationId xmlns:a16="http://schemas.microsoft.com/office/drawing/2014/main" id="{A3496873-CDF6-0FFC-F373-1B0C62920DBE}"/>
              </a:ext>
            </a:extLst>
          </p:cNvPr>
          <p:cNvSpPr/>
          <p:nvPr/>
        </p:nvSpPr>
        <p:spPr>
          <a:xfrm>
            <a:off x="370608" y="177039"/>
            <a:ext cx="467115" cy="363558"/>
          </a:xfrm>
          <a:prstGeom prst="star5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5B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66928" y="402336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11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499616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· RESEARCH INSTRUCTIONS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749808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the agent what counts as a good source.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869680" y="548640"/>
            <a:ext cx="566928" cy="566928"/>
          </a:xfrm>
          <a:prstGeom prst="ellipse">
            <a:avLst/>
          </a:prstGeom>
          <a:solidFill>
            <a:srgbClr val="8B7FE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54633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159105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instructions are a few search templates on each topic. They steer what the agent looks for, instead of letting it guess from the topic name.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19456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F2F4F8"/>
          </a:solidFill>
          <a:ln w="12700">
            <a:solidFill>
              <a:srgbClr val="E5EB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04672" y="2414016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E1E6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04672" y="24140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9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EMPTY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" y="294436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derives generic queries from the topic name: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3328416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in cybersecurity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in cybersecurity trends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04672" y="4059936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69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get:  </a:t>
            </a:r>
            <a:r>
              <a:rPr lang="en-US" sz="1200" i="1" dirty="0">
                <a:solidFill>
                  <a:srgbClr val="7E8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explainers and vendor hype: a vague post with no hard evidence.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219456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E9FBF6"/>
          </a:solidFill>
          <a:ln w="22225">
            <a:solidFill>
              <a:srgbClr val="14B8A6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519672" y="2414016"/>
            <a:ext cx="3200400" cy="38404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19672" y="24140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RESEARCH INSTRUCTIONS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19672" y="294436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give it templates that target citable material: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19672" y="3328416"/>
            <a:ext cx="4892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0B6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{{TOPIC_NAME}} breach incident report {{YEAR_RANGE}}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0B6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security {{KEYWORDS}} enforcement action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0B6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{{ANGLE}} case study results survey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19672" y="4261104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get:  </a:t>
            </a:r>
            <a:r>
              <a:rPr lang="en-US" sz="1200" i="1" dirty="0">
                <a:solidFill>
                  <a:srgbClr val="15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reports, enforcement actions, and studies with numbers: a specific, sourced post.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64240" cy="603504"/>
          </a:xfrm>
          <a:prstGeom prst="roundRect">
            <a:avLst>
              <a:gd name="adj" fmla="val 12121"/>
            </a:avLst>
          </a:prstGeom>
          <a:solidFill>
            <a:srgbClr val="F0ED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1520" y="5202936"/>
            <a:ext cx="548640" cy="548640"/>
          </a:xfrm>
          <a:prstGeom prst="ellipse">
            <a:avLst/>
          </a:prstGeom>
          <a:solidFill>
            <a:srgbClr val="8B7FE0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5345582"/>
            <a:ext cx="263347" cy="263347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435608" y="5175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five templates, four placeholders: {{TOPIC_NAME}} {{ANGLE}} {{KEYWORDS}} {{YEAR_RANGE}}. The AI drafts them; you review and save. Sharper sourcing means stronger metrics and fewer rejected drafts.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  <p:sp>
        <p:nvSpPr>
          <p:cNvPr id="27" name="5-Point Star 26">
            <a:extLst>
              <a:ext uri="{FF2B5EF4-FFF2-40B4-BE49-F238E27FC236}">
                <a16:creationId xmlns:a16="http://schemas.microsoft.com/office/drawing/2014/main" id="{C4419AA7-49E8-399C-F028-698210B1B1EE}"/>
              </a:ext>
            </a:extLst>
          </p:cNvPr>
          <p:cNvSpPr/>
          <p:nvPr/>
        </p:nvSpPr>
        <p:spPr>
          <a:xfrm>
            <a:off x="370608" y="177039"/>
            <a:ext cx="467115" cy="363558"/>
          </a:xfrm>
          <a:prstGeom prst="star5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research feed to a published post, autonomously, with a human in command.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60920" y="960120"/>
            <a:ext cx="429768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87452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39" y="2031431"/>
            <a:ext cx="289682" cy="28968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53312" y="18288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per organization
</a:t>
            </a:r>
            <a:r>
              <a:rPr lang="en-US" sz="118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SaaS: every tenant gets a private, row-level-secured workspace and its own data.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566928" y="2953512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39" y="3110423"/>
            <a:ext cx="289682" cy="28968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53312" y="2907792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live sources
</a:t>
            </a:r>
            <a:r>
              <a:rPr lang="en-US" sz="118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your RSS/Atom feeds and drafts posts from current, corroborated research.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566928" y="4032504"/>
            <a:ext cx="603504" cy="603504"/>
          </a:xfrm>
          <a:prstGeom prst="ellipse">
            <a:avLst/>
          </a:prstGeom>
          <a:solidFill>
            <a:srgbClr val="F5B841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39" y="4189415"/>
            <a:ext cx="289682" cy="28968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353312" y="3986784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approval gate
</a:t>
            </a:r>
            <a:r>
              <a:rPr lang="en-US" sz="118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company page until an owner approves it. The gate is server-enforced.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566928" y="5111496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839" y="5268407"/>
            <a:ext cx="289682" cy="28968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353312" y="5065776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on schedule
</a:t>
            </a:r>
            <a:r>
              <a:rPr lang="en-US" sz="118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posts publish automatically to your LinkedIn organization page at the right time.</a:t>
            </a:r>
            <a:endParaRPr lang="en-US" sz="1450" dirty="0"/>
          </a:p>
        </p:txBody>
      </p:sp>
      <p:sp>
        <p:nvSpPr>
          <p:cNvPr id="17" name="Text 1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roles, one governed workspace.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11296" cy="4160520"/>
          </a:xfrm>
          <a:prstGeom prst="roundRect">
            <a:avLst>
              <a:gd name="adj" fmla="val 2604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" y="2103120"/>
            <a:ext cx="841248" cy="841248"/>
          </a:xfrm>
          <a:prstGeom prst="ellipse">
            <a:avLst/>
          </a:prstGeom>
          <a:solidFill>
            <a:srgbClr val="F5B841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47088" y="2139696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Dana, Owner
</a:t>
            </a:r>
            <a:r>
              <a:rPr lang="en-US" sz="1200" dirty="0">
                <a:solidFill>
                  <a:srgbClr val="B58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Director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3200400"/>
            <a:ext cx="28895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workspace. Invites teammates, sets roles, owns the global topics, and is the one who approves what ships.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77824" y="4617720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FFF8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33856" y="4617720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58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users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77824" y="5056632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FFF8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33856" y="505663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58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topics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7824" y="5495544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FFF8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33856" y="5495544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58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reject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07408" y="1783080"/>
            <a:ext cx="3511296" cy="4160520"/>
          </a:xfrm>
          <a:prstGeom prst="roundRect">
            <a:avLst>
              <a:gd name="adj" fmla="val 2604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18304" y="2103120"/>
            <a:ext cx="841248" cy="841248"/>
          </a:xfrm>
          <a:prstGeom prst="ellipse">
            <a:avLst/>
          </a:prstGeom>
          <a:solidFill>
            <a:srgbClr val="14B8A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18304" y="2103120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687568" y="2139696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Marcus, Member
</a:t>
            </a:r>
            <a:r>
              <a:rPr lang="en-US" sz="1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Strategist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18304" y="3200400"/>
            <a:ext cx="28895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topics into posts. Builds angles, generates drafts from research, refines with AI, and submits for approval.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18304" y="4617720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E7FB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74336" y="4617720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topics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18304" y="5056632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E7FB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74336" y="505663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&amp; refine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18304" y="5495544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E7FB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74336" y="5495544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approval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247888" y="1783080"/>
            <a:ext cx="3511296" cy="4160520"/>
          </a:xfrm>
          <a:prstGeom prst="roundRect">
            <a:avLst>
              <a:gd name="adj" fmla="val 2604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558784" y="2103120"/>
            <a:ext cx="841248" cy="841248"/>
          </a:xfrm>
          <a:prstGeom prst="ellipse">
            <a:avLst/>
          </a:prstGeom>
          <a:solidFill>
            <a:srgbClr val="8B7FE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558784" y="2103120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528048" y="2139696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Priya, Member
</a:t>
            </a:r>
            <a:r>
              <a:rPr lang="en-US" sz="1200" dirty="0">
                <a:solidFill>
                  <a:srgbClr val="6A5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Analyst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558784" y="3200400"/>
            <a:ext cx="28895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sourcing honest. Discovers and validates feeds, tags domains, and tunes the research instructions.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558784" y="4617720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F0ED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814816" y="4617720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A5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discovery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558784" y="5056632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F0ED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814816" y="505663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A5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tuning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558784" y="5495544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F0ED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814816" y="5495544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A5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accuracy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POST MOVES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content pipeline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user-visible states. The approval gate is the control point, and a client can never skip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1883664" cy="1828800"/>
          </a:xfrm>
          <a:prstGeom prst="roundRect">
            <a:avLst>
              <a:gd name="adj" fmla="val 6000"/>
            </a:avLst>
          </a:prstGeom>
          <a:solidFill>
            <a:srgbClr val="19223B"/>
          </a:solidFill>
          <a:ln w="15875">
            <a:solidFill>
              <a:srgbClr val="33406A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43000" y="2560320"/>
            <a:ext cx="731520" cy="731520"/>
          </a:xfrm>
          <a:prstGeom prst="ellipse">
            <a:avLst/>
          </a:prstGeom>
          <a:solidFill>
            <a:srgbClr val="2A3554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195" y="2750515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3364992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58368" y="382219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7C8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68880" y="3200400"/>
            <a:ext cx="292608" cy="0"/>
          </a:xfrm>
          <a:prstGeom prst="line">
            <a:avLst/>
          </a:prstGeom>
          <a:noFill/>
          <a:ln w="31750">
            <a:solidFill>
              <a:srgbClr val="2DD4B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779776" y="2286000"/>
            <a:ext cx="1883664" cy="1828800"/>
          </a:xfrm>
          <a:prstGeom prst="roundRect">
            <a:avLst>
              <a:gd name="adj" fmla="val 6000"/>
            </a:avLst>
          </a:prstGeom>
          <a:solidFill>
            <a:srgbClr val="19223B"/>
          </a:solidFill>
          <a:ln w="28575">
            <a:solidFill>
              <a:srgbClr val="F5B841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355848" y="2560320"/>
            <a:ext cx="731520" cy="731520"/>
          </a:xfrm>
          <a:prstGeom prst="ellipse">
            <a:avLst/>
          </a:prstGeom>
          <a:solidFill>
            <a:srgbClr val="F5B841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6043" y="275051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71216" y="3364992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4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2871216" y="382219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7C8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2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681728" y="3200400"/>
            <a:ext cx="292608" cy="0"/>
          </a:xfrm>
          <a:prstGeom prst="line">
            <a:avLst/>
          </a:prstGeom>
          <a:noFill/>
          <a:ln w="31750">
            <a:solidFill>
              <a:srgbClr val="2DD4B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992624" y="2286000"/>
            <a:ext cx="1883664" cy="1828800"/>
          </a:xfrm>
          <a:prstGeom prst="roundRect">
            <a:avLst>
              <a:gd name="adj" fmla="val 6000"/>
            </a:avLst>
          </a:prstGeom>
          <a:solidFill>
            <a:srgbClr val="19223B"/>
          </a:solidFill>
          <a:ln w="15875">
            <a:solidFill>
              <a:srgbClr val="33406A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5568696" y="2560320"/>
            <a:ext cx="731520" cy="73152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8891" y="275051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084064" y="3364992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5084064" y="382219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7C8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3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6894576" y="3200400"/>
            <a:ext cx="292608" cy="0"/>
          </a:xfrm>
          <a:prstGeom prst="line">
            <a:avLst/>
          </a:prstGeom>
          <a:noFill/>
          <a:ln w="31750">
            <a:solidFill>
              <a:srgbClr val="2DD4B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7205472" y="2286000"/>
            <a:ext cx="1883664" cy="1828800"/>
          </a:xfrm>
          <a:prstGeom prst="roundRect">
            <a:avLst>
              <a:gd name="adj" fmla="val 6000"/>
            </a:avLst>
          </a:prstGeom>
          <a:solidFill>
            <a:srgbClr val="19223B"/>
          </a:solidFill>
          <a:ln w="15875">
            <a:solidFill>
              <a:srgbClr val="33406A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7781544" y="2560320"/>
            <a:ext cx="731520" cy="73152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1739" y="2750515"/>
            <a:ext cx="351130" cy="35113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296912" y="3364992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7296912" y="382219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7C8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4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9107424" y="3200400"/>
            <a:ext cx="292608" cy="0"/>
          </a:xfrm>
          <a:prstGeom prst="line">
            <a:avLst/>
          </a:prstGeom>
          <a:noFill/>
          <a:ln w="31750">
            <a:solidFill>
              <a:srgbClr val="2DD4B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9418320" y="2286000"/>
            <a:ext cx="1883664" cy="1828800"/>
          </a:xfrm>
          <a:prstGeom prst="roundRect">
            <a:avLst>
              <a:gd name="adj" fmla="val 6000"/>
            </a:avLst>
          </a:prstGeom>
          <a:solidFill>
            <a:srgbClr val="19223B"/>
          </a:solidFill>
          <a:ln w="15875">
            <a:solidFill>
              <a:srgbClr val="33406A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9994392" y="2560320"/>
            <a:ext cx="731520" cy="73152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84587" y="2750515"/>
            <a:ext cx="351130" cy="35113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509760" y="3364992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9509760" y="382219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7C8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5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2779776" y="4434840"/>
            <a:ext cx="1883664" cy="420624"/>
          </a:xfrm>
          <a:prstGeom prst="roundRect">
            <a:avLst>
              <a:gd name="adj" fmla="val 21739"/>
            </a:avLst>
          </a:prstGeom>
          <a:solidFill>
            <a:srgbClr val="2A241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/>
          <p:nvPr/>
        </p:nvSpPr>
        <p:spPr>
          <a:xfrm>
            <a:off x="2779776" y="443484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5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human gate</a:t>
            </a:r>
            <a:endParaRPr lang="en-US" sz="1150" dirty="0"/>
          </a:p>
        </p:txBody>
      </p:sp>
      <p:sp>
        <p:nvSpPr>
          <p:cNvPr id="36" name="Text 29"/>
          <p:cNvSpPr/>
          <p:nvPr/>
        </p:nvSpPr>
        <p:spPr>
          <a:xfrm>
            <a:off x="566928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E9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states handled by the publisher, not the client:  publishing → posted / failed / blocked.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· USER MANAGEMENT  (OWNER ONLY)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Bring the team in, and control exactly who can do what.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869680" y="548640"/>
            <a:ext cx="566928" cy="566928"/>
          </a:xfrm>
          <a:prstGeom prst="ellipse">
            <a:avLst/>
          </a:prstGeom>
          <a:solidFill>
            <a:srgbClr val="F5B84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4633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04672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3" y="2296973"/>
            <a:ext cx="307238" cy="3072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505456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4672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by email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04672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sends an invite from the admin panel; pending invites are tracked and revocable.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474720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712464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8885" y="2296973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13248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3712464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join the tenant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3712464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teammate accepts and becomes a member of that organization, and only that one.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382512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620256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6677" y="2296973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2104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6620256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role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620256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Owner or Member. Roles map to real permissions: who can manage topics, and who approves.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9290304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9528048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4469" y="2296973"/>
            <a:ext cx="307238" cy="30723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1228832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3"/>
          <p:cNvSpPr/>
          <p:nvPr/>
        </p:nvSpPr>
        <p:spPr>
          <a:xfrm>
            <a:off x="9528048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or revoke anytime</a:t>
            </a:r>
            <a:endParaRPr lang="en-US" sz="1350" dirty="0"/>
          </a:p>
        </p:txBody>
      </p:sp>
      <p:sp>
        <p:nvSpPr>
          <p:cNvPr id="30" name="Text 24"/>
          <p:cNvSpPr/>
          <p:nvPr/>
        </p:nvSpPr>
        <p:spPr>
          <a:xfrm>
            <a:off x="9528048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Promote, demote, or remove access in one click. Synthetic dev-bypass users are blocked outright.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66928" y="48920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7FB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731520" y="4937760"/>
            <a:ext cx="548640" cy="54864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166" y="5080406"/>
            <a:ext cx="263347" cy="26334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435608" y="4892040"/>
            <a:ext cx="10012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Owner-gated by the manage_users permission, blocked for dev-bypass identities, and isolated per tenant by row-level security: three independent gates on one screen.</a:t>
            </a:r>
            <a:endParaRPr lang="en-US" sz="1250" dirty="0"/>
          </a:p>
        </p:txBody>
      </p:sp>
      <p:sp>
        <p:nvSpPr>
          <p:cNvPr id="35" name="Text 2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· TOPICS &amp; ANGLES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what to talk about, and how to keep it fresh.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869680" y="548640"/>
            <a:ext cx="566928" cy="566928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4633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39" y="1985711"/>
            <a:ext cx="289682" cy="28968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4128" y="17739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53312" y="1783080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topic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it, describe it, add hashtags, and set scope: a shared global topic or your own personal one.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98064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39" y="2954975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24128" y="2743200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353312" y="2752344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content angles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topic a set of angles: the distinct takes the agent can write from.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66928" y="3767328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39" y="3924239"/>
            <a:ext cx="289682" cy="2896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24128" y="3712464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353312" y="3721608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or pin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auto-rotates angles to avoid repeating itself, or you pin a specific angle for a post.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66928" y="4736592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39" y="489350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24128" y="4681728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1353312" y="4690872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AI draft a starter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sure where to begin? AI proposes a ready-to-edit topic to get you moving.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7223760" y="1828800"/>
            <a:ext cx="4434840" cy="3246120"/>
          </a:xfrm>
          <a:prstGeom prst="roundRect">
            <a:avLst>
              <a:gd name="adj" fmla="val 3380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749808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ANGLES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498080" y="2468880"/>
            <a:ext cx="3886200" cy="475488"/>
          </a:xfrm>
          <a:prstGeom prst="roundRect">
            <a:avLst>
              <a:gd name="adj" fmla="val 50000"/>
            </a:avLst>
          </a:prstGeom>
          <a:solidFill>
            <a:srgbClr val="E7FBF6"/>
          </a:solidFill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7607808" y="2532888"/>
            <a:ext cx="347472" cy="347472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8151" y="2623231"/>
            <a:ext cx="166787" cy="16678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028432" y="246888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Contrarian take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7498080" y="3072384"/>
            <a:ext cx="3886200" cy="475488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E5EB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7626096" y="3218688"/>
            <a:ext cx="182880" cy="182880"/>
          </a:xfrm>
          <a:prstGeom prst="ellipse">
            <a:avLst/>
          </a:prstGeom>
          <a:solidFill>
            <a:srgbClr val="C7D2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8028432" y="3072384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Data-backed trend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7498080" y="3675888"/>
            <a:ext cx="3886200" cy="475488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E5EB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6"/>
          <p:cNvSpPr/>
          <p:nvPr/>
        </p:nvSpPr>
        <p:spPr>
          <a:xfrm>
            <a:off x="7626096" y="3822192"/>
            <a:ext cx="182880" cy="182880"/>
          </a:xfrm>
          <a:prstGeom prst="ellipse">
            <a:avLst/>
          </a:prstGeom>
          <a:solidFill>
            <a:srgbClr val="C7D2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7"/>
          <p:cNvSpPr/>
          <p:nvPr/>
        </p:nvSpPr>
        <p:spPr>
          <a:xfrm>
            <a:off x="8028432" y="367588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how-to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7498080" y="4279392"/>
            <a:ext cx="3886200" cy="475488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E5EB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9"/>
          <p:cNvSpPr/>
          <p:nvPr/>
        </p:nvSpPr>
        <p:spPr>
          <a:xfrm>
            <a:off x="7626096" y="4425696"/>
            <a:ext cx="182880" cy="182880"/>
          </a:xfrm>
          <a:prstGeom prst="ellipse">
            <a:avLst/>
          </a:prstGeom>
          <a:solidFill>
            <a:srgbClr val="C7D2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0"/>
          <p:cNvSpPr/>
          <p:nvPr/>
        </p:nvSpPr>
        <p:spPr>
          <a:xfrm>
            <a:off x="8028432" y="427939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 vs. reality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66928" y="52578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0ED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2"/>
          <p:cNvSpPr/>
          <p:nvPr/>
        </p:nvSpPr>
        <p:spPr>
          <a:xfrm>
            <a:off x="731520" y="5266944"/>
            <a:ext cx="548640" cy="548640"/>
          </a:xfrm>
          <a:prstGeom prst="ellipse">
            <a:avLst/>
          </a:prstGeom>
          <a:solidFill>
            <a:srgbClr val="8B7FE0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" y="5409590"/>
            <a:ext cx="263347" cy="263347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435608" y="5257800"/>
            <a:ext cx="10012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are a closed set: arbitrary free text is rejected (fail-closed), so user input never flows into the prompt.</a:t>
            </a:r>
            <a:endParaRPr lang="en-US" sz="1250" dirty="0"/>
          </a:p>
        </p:txBody>
      </p:sp>
      <p:sp>
        <p:nvSpPr>
          <p:cNvPr id="42" name="Text 3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· FEED DISCOVERY &amp; RESEARCH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 the agent at the right sources, safely.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869680" y="548640"/>
            <a:ext cx="566928" cy="566928"/>
          </a:xfrm>
          <a:prstGeom prst="ellipse">
            <a:avLst/>
          </a:prstGeom>
          <a:solidFill>
            <a:srgbClr val="8B7FE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4633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39" y="1985711"/>
            <a:ext cx="289682" cy="28968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4128" y="17739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53312" y="1783080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feeds with AI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topic and the agent suggests relevant RSS/Atom feeds to pull from.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98064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39" y="2954975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24128" y="2743200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353312" y="2752344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before added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candidate URL is RSS-validated and SSRF-checked, so only safe, real feeds get in.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66928" y="3767328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39" y="3924239"/>
            <a:ext cx="289682" cy="2896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24128" y="3712464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353312" y="3721608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&amp; instruct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feeds by domain and set research instructions that steer what the agent looks for.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66928" y="4736592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39" y="489350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24128" y="4681728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1353312" y="4690872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ingestion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engine keeps pulling and corroborating articles in the background.</a:t>
            </a:r>
            <a:endParaRPr lang="en-US" sz="135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315200" y="1783080"/>
            <a:ext cx="4343400" cy="377647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· 1: GENERATE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the latest research into a draft in one click.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869680" y="548640"/>
            <a:ext cx="566928" cy="566928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4633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39" y="1985711"/>
            <a:ext cx="289682" cy="28968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4128" y="17739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53312" y="1783080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topic &amp; angle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what to post about and which angle to write from, or let it auto-select.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98064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39" y="2954975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24128" y="2743200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353312" y="2752344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from research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composes a LinkedIn post grounded in the most recent corroborated articles.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66928" y="3767328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39" y="3924239"/>
            <a:ext cx="289682" cy="2896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24128" y="3712464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353312" y="3721608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metrics, sourced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woven in with their source attached. An unsourced figure never ships.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66928" y="4736592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39" y="489350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24128" y="4681728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1353312" y="4690872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model, your key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model that fits; each tenant brings its own AI key (BYOK).</a:t>
            </a:r>
            <a:endParaRPr lang="en-US" sz="135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315200" y="1783080"/>
            <a:ext cx="4343400" cy="377647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· 2: REFINE WITH AI &amp; EDIT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 the draft until it sounds like you.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869680" y="548640"/>
            <a:ext cx="566928" cy="566928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4633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04672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3" y="2296973"/>
            <a:ext cx="307238" cy="3072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505456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4672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 to rewrite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04672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it, reframe the hook, or shift the tone. The agent rewrites on request.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474720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712464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8885" y="2296973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13248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3712464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directly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3712464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the keyboard? Edit the post text inline and keep full control of the wording.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382512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620256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6677" y="2296973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2104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6620256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freely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620256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rewrite, tweak. Loop as many times as it takes to get it right.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9290304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9528048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4469" y="2296973"/>
            <a:ext cx="307238" cy="30723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1228832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3"/>
          <p:cNvSpPr/>
          <p:nvPr/>
        </p:nvSpPr>
        <p:spPr>
          <a:xfrm>
            <a:off x="9528048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traceable</a:t>
            </a:r>
            <a:endParaRPr lang="en-US" sz="1350" dirty="0"/>
          </a:p>
        </p:txBody>
      </p:sp>
      <p:sp>
        <p:nvSpPr>
          <p:cNvPr id="30" name="Text 24"/>
          <p:cNvSpPr/>
          <p:nvPr/>
        </p:nvSpPr>
        <p:spPr>
          <a:xfrm>
            <a:off x="9528048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requests are logged end-to-end, so what the model did is always auditable.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66928" y="48920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7FB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731520" y="4937760"/>
            <a:ext cx="548640" cy="54864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5080406"/>
            <a:ext cx="263347" cy="26334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435608" y="4892040"/>
            <a:ext cx="10012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 and Generate share the same disciplined pipeline: the exact request sent to the model is the exact request logged, so the trace can never lie about what shipped.</a:t>
            </a:r>
            <a:endParaRPr lang="en-US" sz="1250" dirty="0"/>
          </a:p>
        </p:txBody>
      </p:sp>
      <p:sp>
        <p:nvSpPr>
          <p:cNvPr id="35" name="Text 2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· 3: IMAGES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every post the right picture, fetched safely.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869680" y="548640"/>
            <a:ext cx="566928" cy="566928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4633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39" y="1985711"/>
            <a:ext cx="289682" cy="28968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4128" y="17739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53312" y="1783080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lead image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extracts the lead image straight from the source article.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98064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39" y="2954975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24128" y="2743200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353312" y="2752344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OG fallback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lead image? It falls back to the article’s Open-Graph preview image.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66928" y="3767328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39" y="3924239"/>
            <a:ext cx="289682" cy="2896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24128" y="3712464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353312" y="3721608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through a guarded proxy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load via an SSRF-guarded proxy: no server-side request forgery.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66928" y="4736592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39" y="489350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24128" y="4681728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1353312" y="4690872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before it ships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post exactly as it will appear on the company page.</a:t>
            </a:r>
            <a:endParaRPr lang="en-US" sz="135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32320" y="1554480"/>
            <a:ext cx="4663440" cy="42062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· 4: DRAFT → PENDING APPROVAL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it, submit it, and route it for sign-off.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732520" y="548640"/>
            <a:ext cx="566928" cy="566928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73252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40917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04672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3" y="2296973"/>
            <a:ext cx="307238" cy="3072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505456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4672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as draft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04672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post is saved as a draft you can return to and keep editing.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474720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712464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8885" y="2296973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13248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3712464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approval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3712464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it’s ready, send it to pending approval. It now awaits an owner.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382512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620256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6677" y="2296973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2104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6620256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reviews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620256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approves it, or sends it back to draft with the change in one move.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9290304" y="18745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9528048" y="2130552"/>
            <a:ext cx="640080" cy="64008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4469" y="2296973"/>
            <a:ext cx="307238" cy="30723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1228832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7E0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3"/>
          <p:cNvSpPr/>
          <p:nvPr/>
        </p:nvSpPr>
        <p:spPr>
          <a:xfrm>
            <a:off x="9528048" y="28986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can’t be skipped</a:t>
            </a:r>
            <a:endParaRPr lang="en-US" sz="1350" dirty="0"/>
          </a:p>
        </p:txBody>
      </p:sp>
      <p:sp>
        <p:nvSpPr>
          <p:cNvPr id="30" name="Text 24"/>
          <p:cNvSpPr/>
          <p:nvPr/>
        </p:nvSpPr>
        <p:spPr>
          <a:xfrm>
            <a:off x="9528048" y="3319272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is server-enforced: no client can fake an approval or jump the queue.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66928" y="48920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FF8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731520" y="4928616"/>
            <a:ext cx="566928" cy="566928"/>
          </a:xfrm>
          <a:prstGeom prst="ellipse">
            <a:avLst/>
          </a:prstGeom>
          <a:solidFill>
            <a:srgbClr val="14B8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7"/>
          <p:cNvSpPr/>
          <p:nvPr/>
        </p:nvSpPr>
        <p:spPr>
          <a:xfrm>
            <a:off x="731520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1408176" y="48920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submits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</p:txBody>
      </p:sp>
      <p:sp>
        <p:nvSpPr>
          <p:cNvPr id="35" name="Shape 29"/>
          <p:cNvSpPr/>
          <p:nvPr/>
        </p:nvSpPr>
        <p:spPr>
          <a:xfrm>
            <a:off x="3310128" y="5212080"/>
            <a:ext cx="502920" cy="0"/>
          </a:xfrm>
          <a:prstGeom prst="line">
            <a:avLst/>
          </a:prstGeom>
          <a:noFill/>
          <a:ln w="31750">
            <a:solidFill>
              <a:srgbClr val="F5B84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3995928" y="4928616"/>
            <a:ext cx="566928" cy="566928"/>
          </a:xfrm>
          <a:prstGeom prst="ellipse">
            <a:avLst/>
          </a:prstGeom>
          <a:solidFill>
            <a:srgbClr val="F5B84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/>
          <p:nvPr/>
        </p:nvSpPr>
        <p:spPr>
          <a:xfrm>
            <a:off x="399592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</a:t>
            </a:r>
            <a:endParaRPr lang="en-US" sz="1600" dirty="0"/>
          </a:p>
        </p:txBody>
      </p:sp>
      <p:sp>
        <p:nvSpPr>
          <p:cNvPr id="38" name="Text 32"/>
          <p:cNvSpPr/>
          <p:nvPr/>
        </p:nvSpPr>
        <p:spPr>
          <a:xfrm>
            <a:off x="4672584" y="48920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approves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</p:txBody>
      </p:sp>
      <p:sp>
        <p:nvSpPr>
          <p:cNvPr id="39" name="Text 33"/>
          <p:cNvSpPr/>
          <p:nvPr/>
        </p:nvSpPr>
        <p:spPr>
          <a:xfrm>
            <a:off x="7059168" y="48920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i="1" dirty="0">
                <a:solidFill>
                  <a:srgbClr val="9A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a real hand-off between roles: the strategist proposes, the owner disposes.</a:t>
            </a:r>
            <a:endParaRPr lang="en-US" sz="1180" dirty="0"/>
          </a:p>
        </p:txBody>
      </p:sp>
      <p:sp>
        <p:nvSpPr>
          <p:cNvPr id="40" name="Text 3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· 5: SCHEDULE &amp; PUBLISH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1A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Queue it once: the agent posts it for you.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869680" y="548640"/>
            <a:ext cx="566928" cy="566928"/>
          </a:xfrm>
          <a:prstGeom prst="ellipse">
            <a:avLst/>
          </a:prstGeom>
          <a:solidFill>
            <a:srgbClr val="F5B84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46336" y="51206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
</a:t>
            </a:r>
            <a:r>
              <a:rPr lang="en-US" sz="10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39" y="1985711"/>
            <a:ext cx="289682" cy="28968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4128" y="1773936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53312" y="1783080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for a time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an approved post on the calendar for the date and time you want it live.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98064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39" y="2954975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24128" y="2743200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353312" y="2752344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schedule status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what’s queued, what’s gone out, and what needs attention at a glance.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66928" y="3767328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39" y="3924239"/>
            <a:ext cx="289682" cy="2896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24128" y="3712464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353312" y="3721608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Auto-publish to your page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scheduler posts to your LinkedIn organization page: no manual step.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66928" y="4736592"/>
            <a:ext cx="603504" cy="603504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39" y="489350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24128" y="4681728"/>
            <a:ext cx="310896" cy="310896"/>
          </a:xfrm>
          <a:prstGeom prst="rect">
            <a:avLst/>
          </a:prstGeom>
          <a:solidFill>
            <a:srgbClr val="1922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1353312" y="4690872"/>
            <a:ext cx="5522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status
</a:t>
            </a:r>
            <a:r>
              <a:rPr lang="en-US" sz="115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Posted, failed, and blocked are all tracked, so nothing silently disappears.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7223760" y="1828800"/>
            <a:ext cx="4434840" cy="3703320"/>
          </a:xfrm>
          <a:prstGeom prst="roundRect">
            <a:avLst>
              <a:gd name="adj" fmla="val 2963"/>
            </a:avLst>
          </a:prstGeom>
          <a:solidFill>
            <a:srgbClr val="FBFCFE"/>
          </a:solidFill>
          <a:ln w="12700">
            <a:solidFill>
              <a:srgbClr val="E5EBF3"/>
            </a:solidFill>
            <a:prstDash val="solid"/>
          </a:ln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749808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7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498080" y="2487168"/>
            <a:ext cx="3886200" cy="603504"/>
          </a:xfrm>
          <a:prstGeom prst="roundRect">
            <a:avLst>
              <a:gd name="adj" fmla="val 15152"/>
            </a:avLst>
          </a:prstGeom>
          <a:solidFill>
            <a:srgbClr val="F4F7FB"/>
          </a:solidFill>
          <a:ln w="12700">
            <a:solidFill>
              <a:srgbClr val="E5EB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7680960" y="2706624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/>
          <p:nvPr/>
        </p:nvSpPr>
        <p:spPr>
          <a:xfrm>
            <a:off x="7973568" y="248716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· Tue 9:00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10058400" y="26334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7FB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/>
          <p:nvPr/>
        </p:nvSpPr>
        <p:spPr>
          <a:xfrm>
            <a:off x="10058400" y="26334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498080" y="3200400"/>
            <a:ext cx="3886200" cy="603504"/>
          </a:xfrm>
          <a:prstGeom prst="roundRect">
            <a:avLst>
              <a:gd name="adj" fmla="val 15152"/>
            </a:avLst>
          </a:prstGeom>
          <a:solidFill>
            <a:srgbClr val="F4F7FB"/>
          </a:solidFill>
          <a:ln w="12700">
            <a:solidFill>
              <a:srgbClr val="E5EB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7680960" y="3419856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6"/>
          <p:cNvSpPr/>
          <p:nvPr/>
        </p:nvSpPr>
        <p:spPr>
          <a:xfrm>
            <a:off x="7973568" y="32004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· Mon 9:00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10058400" y="334670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7FB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10058400" y="334670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7498080" y="3913632"/>
            <a:ext cx="3886200" cy="603504"/>
          </a:xfrm>
          <a:prstGeom prst="roundRect">
            <a:avLst>
              <a:gd name="adj" fmla="val 15152"/>
            </a:avLst>
          </a:prstGeom>
          <a:solidFill>
            <a:srgbClr val="F4F7FB"/>
          </a:solidFill>
          <a:ln w="12700">
            <a:solidFill>
              <a:srgbClr val="E5EB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7680960" y="4133088"/>
            <a:ext cx="164592" cy="164592"/>
          </a:xfrm>
          <a:prstGeom prst="ellipse">
            <a:avLst/>
          </a:prstGeom>
          <a:solidFill>
            <a:srgbClr val="F5B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/>
          <p:nvPr/>
        </p:nvSpPr>
        <p:spPr>
          <a:xfrm>
            <a:off x="7973568" y="391363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approval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10058400" y="405993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8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3"/>
          <p:cNvSpPr/>
          <p:nvPr/>
        </p:nvSpPr>
        <p:spPr>
          <a:xfrm>
            <a:off x="10058400" y="405993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B58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7498080" y="4626864"/>
            <a:ext cx="3886200" cy="603504"/>
          </a:xfrm>
          <a:prstGeom prst="roundRect">
            <a:avLst>
              <a:gd name="adj" fmla="val 15152"/>
            </a:avLst>
          </a:prstGeom>
          <a:solidFill>
            <a:srgbClr val="F4F7FB"/>
          </a:solidFill>
          <a:ln w="12700">
            <a:solidFill>
              <a:srgbClr val="E5EB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5"/>
          <p:cNvSpPr/>
          <p:nvPr/>
        </p:nvSpPr>
        <p:spPr>
          <a:xfrm>
            <a:off x="7680960" y="4846320"/>
            <a:ext cx="164592" cy="164592"/>
          </a:xfrm>
          <a:prstGeom prst="ellipse">
            <a:avLst/>
          </a:prstGeom>
          <a:solidFill>
            <a:srgbClr val="C260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6"/>
          <p:cNvSpPr/>
          <p:nvPr/>
        </p:nvSpPr>
        <p:spPr>
          <a:xfrm>
            <a:off x="7973568" y="462686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· retry queued</a:t>
            </a:r>
            <a:endParaRPr lang="en-US" sz="1150" dirty="0"/>
          </a:p>
        </p:txBody>
      </p:sp>
      <p:sp>
        <p:nvSpPr>
          <p:cNvPr id="43" name="Shape 37"/>
          <p:cNvSpPr/>
          <p:nvPr/>
        </p:nvSpPr>
        <p:spPr>
          <a:xfrm>
            <a:off x="10058400" y="477316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BED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8"/>
          <p:cNvSpPr/>
          <p:nvPr/>
        </p:nvSpPr>
        <p:spPr>
          <a:xfrm>
            <a:off x="10058400" y="477316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B04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· 6: THE WHOLE THING, ON ITS OWN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loop that runs continuously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never stops, so neither does the pipeline, with human approval as the one deliberate pause.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874520" y="2423160"/>
            <a:ext cx="3566160" cy="3566160"/>
          </a:xfrm>
          <a:prstGeom prst="ellipse">
            <a:avLst/>
          </a:prstGeom>
          <a:solidFill>
            <a:srgbClr val="111726"/>
          </a:solidFill>
          <a:ln w="19050">
            <a:solidFill>
              <a:srgbClr val="3340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46120" y="2011680"/>
            <a:ext cx="822960" cy="82296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0090" y="2225650"/>
            <a:ext cx="395021" cy="3950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834640" y="28437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941930" y="3243758"/>
            <a:ext cx="822960" cy="82296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899" y="3457728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30450" y="407586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94188" y="5237302"/>
            <a:ext cx="822960" cy="822960"/>
          </a:xfrm>
          <a:prstGeom prst="ellipse">
            <a:avLst/>
          </a:prstGeom>
          <a:solidFill>
            <a:srgbClr val="F5B841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8158" y="5451272"/>
            <a:ext cx="395021" cy="3950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882708" y="606940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2198052" y="5237302"/>
            <a:ext cx="822960" cy="82296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2021" y="5451272"/>
            <a:ext cx="395021" cy="39502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786572" y="606940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1550310" y="3243758"/>
            <a:ext cx="822960" cy="82296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4280" y="3457728"/>
            <a:ext cx="395021" cy="39502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38830" y="407586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2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992" y="3913632"/>
            <a:ext cx="585216" cy="58521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040880" y="2240280"/>
            <a:ext cx="457200" cy="45720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752" y="2359152"/>
            <a:ext cx="219456" cy="21945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7680960" y="2185416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Hands-free throughput
</a:t>
            </a:r>
            <a:r>
              <a:rPr lang="en-US" sz="118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keep flowing without anyone babysitting the tool.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7040880" y="3209544"/>
            <a:ext cx="457200" cy="45720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752" y="3328416"/>
            <a:ext cx="219456" cy="21945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680960" y="31546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current
</a:t>
            </a:r>
            <a:r>
              <a:rPr lang="en-US" sz="118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post reflects the newest corroborated research, not last month’s.</a:t>
            </a:r>
            <a:endParaRPr lang="en-US" sz="1400" dirty="0"/>
          </a:p>
        </p:txBody>
      </p:sp>
      <p:sp>
        <p:nvSpPr>
          <p:cNvPr id="28" name="Shape 18"/>
          <p:cNvSpPr/>
          <p:nvPr/>
        </p:nvSpPr>
        <p:spPr>
          <a:xfrm>
            <a:off x="7040880" y="4178808"/>
            <a:ext cx="457200" cy="45720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752" y="4297680"/>
            <a:ext cx="219456" cy="219456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7680960" y="4123944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human checkpoint
</a:t>
            </a:r>
            <a:r>
              <a:rPr lang="en-US" sz="118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owner’s approval is the only gate: deliberate, not bureaucratic.</a:t>
            </a:r>
            <a:endParaRPr lang="en-US" sz="1400" dirty="0"/>
          </a:p>
        </p:txBody>
      </p:sp>
      <p:sp>
        <p:nvSpPr>
          <p:cNvPr id="31" name="Shape 20"/>
          <p:cNvSpPr/>
          <p:nvPr/>
        </p:nvSpPr>
        <p:spPr>
          <a:xfrm>
            <a:off x="7040880" y="5148072"/>
            <a:ext cx="457200" cy="457200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752" y="5266944"/>
            <a:ext cx="219456" cy="21945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7680960" y="509320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slips
</a:t>
            </a:r>
            <a:r>
              <a:rPr lang="en-US" sz="118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or blocked posts surface immediately with their status.</a:t>
            </a:r>
            <a:endParaRPr lang="en-US" sz="1400" dirty="0"/>
          </a:p>
        </p:txBody>
      </p:sp>
      <p:sp>
        <p:nvSpPr>
          <p:cNvPr id="34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EARNS TRUST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is the product, not a feature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from the database to the UI: the moat for selling AI publishing to serious organizations.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3529584" cy="1481328"/>
          </a:xfrm>
          <a:prstGeom prst="roundRect">
            <a:avLst>
              <a:gd name="adj" fmla="val 6173"/>
            </a:avLst>
          </a:prstGeom>
          <a:solidFill>
            <a:srgbClr val="19223B"/>
          </a:solidFill>
          <a:ln w="12700">
            <a:solidFill>
              <a:srgbClr val="33406A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6384" y="2404872"/>
            <a:ext cx="566928" cy="566928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785" y="2552273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99616" y="2350008"/>
            <a:ext cx="24323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multi-tenancy
</a:t>
            </a:r>
            <a:r>
              <a:rPr lang="en-US" sz="108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RLS isolates every tenant’s data, enforced in the database, not just the app.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25696" y="2148840"/>
            <a:ext cx="3529584" cy="1481328"/>
          </a:xfrm>
          <a:prstGeom prst="roundRect">
            <a:avLst>
              <a:gd name="adj" fmla="val 6173"/>
            </a:avLst>
          </a:prstGeom>
          <a:solidFill>
            <a:srgbClr val="19223B"/>
          </a:solidFill>
          <a:ln w="12700">
            <a:solidFill>
              <a:srgbClr val="33406A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45152" y="2404872"/>
            <a:ext cx="566928" cy="566928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2553" y="2552273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58384" y="2350008"/>
            <a:ext cx="24323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BYOK keys
</a:t>
            </a:r>
            <a:r>
              <a:rPr lang="en-US" sz="108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organization brings its own AI key; keys are encrypted and never logged.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284464" y="2148840"/>
            <a:ext cx="3529584" cy="1481328"/>
          </a:xfrm>
          <a:prstGeom prst="roundRect">
            <a:avLst>
              <a:gd name="adj" fmla="val 6173"/>
            </a:avLst>
          </a:prstGeom>
          <a:solidFill>
            <a:srgbClr val="19223B"/>
          </a:solidFill>
          <a:ln w="12700">
            <a:solidFill>
              <a:srgbClr val="33406A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503920" y="2404872"/>
            <a:ext cx="566928" cy="566928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1321" y="2552273"/>
            <a:ext cx="272125" cy="2721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217152" y="2350008"/>
            <a:ext cx="24323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prompt vault
</a:t>
            </a:r>
            <a:r>
              <a:rPr lang="en-US" sz="108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and secrets sealed with AES-256-GCM + HKDF at rest.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66928" y="3922776"/>
            <a:ext cx="3529584" cy="1481328"/>
          </a:xfrm>
          <a:prstGeom prst="roundRect">
            <a:avLst>
              <a:gd name="adj" fmla="val 6173"/>
            </a:avLst>
          </a:prstGeom>
          <a:solidFill>
            <a:srgbClr val="19223B"/>
          </a:solidFill>
          <a:ln w="12700">
            <a:solidFill>
              <a:srgbClr val="33406A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86384" y="4178808"/>
            <a:ext cx="566928" cy="566928"/>
          </a:xfrm>
          <a:prstGeom prst="ellipse">
            <a:avLst/>
          </a:prstGeom>
          <a:solidFill>
            <a:srgbClr val="F5B841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785" y="4326209"/>
            <a:ext cx="272125" cy="27212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99616" y="4123944"/>
            <a:ext cx="24323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
</a:t>
            </a:r>
            <a:r>
              <a:rPr lang="en-US" sz="108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 reaches a public page without an owner’s sign-off, server-enforced.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425696" y="3922776"/>
            <a:ext cx="3529584" cy="1481328"/>
          </a:xfrm>
          <a:prstGeom prst="roundRect">
            <a:avLst>
              <a:gd name="adj" fmla="val 6173"/>
            </a:avLst>
          </a:prstGeom>
          <a:solidFill>
            <a:srgbClr val="19223B"/>
          </a:solidFill>
          <a:ln w="12700">
            <a:solidFill>
              <a:srgbClr val="33406A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4645152" y="4178808"/>
            <a:ext cx="566928" cy="566928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2553" y="4326209"/>
            <a:ext cx="272125" cy="27212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358384" y="4123944"/>
            <a:ext cx="24323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SSRF-guarded fetches
</a:t>
            </a:r>
            <a:r>
              <a:rPr lang="en-US" sz="108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discovery and image fetches are validated against server-side request forgery.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8284464" y="3922776"/>
            <a:ext cx="3529584" cy="1481328"/>
          </a:xfrm>
          <a:prstGeom prst="roundRect">
            <a:avLst>
              <a:gd name="adj" fmla="val 6173"/>
            </a:avLst>
          </a:prstGeom>
          <a:solidFill>
            <a:srgbClr val="19223B"/>
          </a:solidFill>
          <a:ln w="12700">
            <a:solidFill>
              <a:srgbClr val="33406A"/>
            </a:solidFill>
            <a:prstDash val="solid"/>
          </a:ln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8503920" y="4178808"/>
            <a:ext cx="566928" cy="566928"/>
          </a:xfrm>
          <a:prstGeom prst="ellipse">
            <a:avLst/>
          </a:prstGeom>
          <a:solidFill>
            <a:srgbClr val="14B8A6"/>
          </a:solidFill>
          <a:ln/>
          <a:effectLst>
            <a:outerShdw blurRad="114300" dist="38100" dir="5400000" algn="bl" rotWithShape="0">
              <a:srgbClr val="8595B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1321" y="4326209"/>
            <a:ext cx="272125" cy="272125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217152" y="4123944"/>
            <a:ext cx="24323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traceability
</a:t>
            </a:r>
            <a:r>
              <a:rPr lang="en-US" sz="108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request is logged exactly as sent, so output is always auditable.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majikl · Market Intelligence   · 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463040"/>
            <a:ext cx="4754880" cy="4754880"/>
          </a:xfrm>
          <a:prstGeom prst="ellipse">
            <a:avLst/>
          </a:prstGeom>
          <a:solidFill>
            <a:srgbClr val="1922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875520" y="3474720"/>
            <a:ext cx="3291840" cy="3291840"/>
          </a:xfrm>
          <a:prstGeom prst="ellipse">
            <a:avLst/>
          </a:prstGeom>
          <a:solidFill>
            <a:srgbClr val="1421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8412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intelligence</a:t>
            </a:r>
            <a:endParaRPr lang="en-US" sz="42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posts itself, safely.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66928" y="34290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6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 AI agent that researches, drafts, and publishes on-brand LinkedIn content for every organization on the platform, with the owner always in command.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4892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66928" y="52852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corroborated sources in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70248" y="4892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270248" y="52852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before publish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973568" y="4892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973568" y="52852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multi-tenant, isolated by design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89788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5897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alpha.majikl.com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2210</Words>
  <Application>Microsoft Macintosh PowerPoint</Application>
  <PresentationFormat>Widescreen</PresentationFormat>
  <Paragraphs>290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majikl LinkedIn AI Content Agent. Investor Overview</dc:title>
  <dc:subject>PptxGenJS Presentation</dc:subject>
  <dc:creator>majikl Market Intelligence</dc:creator>
  <cp:lastModifiedBy>Brandon R. India</cp:lastModifiedBy>
  <cp:revision>3</cp:revision>
  <dcterms:created xsi:type="dcterms:W3CDTF">2026-06-25T15:06:40Z</dcterms:created>
  <dcterms:modified xsi:type="dcterms:W3CDTF">2026-06-25T15:39:40Z</dcterms:modified>
</cp:coreProperties>
</file>