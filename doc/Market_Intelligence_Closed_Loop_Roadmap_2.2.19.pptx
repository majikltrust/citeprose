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7" r:id="rId5"/>
    <p:sldId id="259" r:id="rId6"/>
    <p:sldId id="260" r:id="rId7"/>
    <p:sldId id="266" r:id="rId8"/>
    <p:sldId id="268" r:id="rId9"/>
    <p:sldId id="261" r:id="rId10"/>
    <p:sldId id="262" r:id="rId11"/>
    <p:sldId id="263" r:id="rId12"/>
    <p:sldId id="264" r:id="rId13"/>
    <p:sldId id="265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473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68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accountadmin@majikl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103120"/>
            <a:ext cx="6217920" cy="6217920"/>
          </a:xfrm>
          <a:prstGeom prst="ellipse">
            <a:avLst/>
          </a:prstGeom>
          <a:solidFill>
            <a:srgbClr val="06B6D4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875520" y="2926080"/>
            <a:ext cx="4937760" cy="493776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80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VISION  /  RELEASE 2.2.19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closed-loop</a:t>
            </a:r>
            <a:endParaRPr lang="en-US" sz="46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intelligence system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88620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43434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LinkedIn tools schedule the content you bring them. Market Intelligence creates it from live research, publishes it, measures what performs, and makes the next cycle smarter.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5623560"/>
            <a:ext cx="1340510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06B6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822960" y="5779008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987552" y="5623560"/>
            <a:ext cx="9747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09190" y="5623560"/>
            <a:ext cx="1340510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8B5CF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392070" y="5779008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2556662" y="5623560"/>
            <a:ext cx="9747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78301" y="5623560"/>
            <a:ext cx="1967789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961181" y="5779008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25773" y="5623560"/>
            <a:ext cx="160202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paid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974690" y="5623560"/>
            <a:ext cx="1430122" cy="402336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157570" y="5779008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322162" y="5623560"/>
            <a:ext cx="10643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3" name="Text 4">
            <a:extLst>
              <a:ext uri="{FF2B5EF4-FFF2-40B4-BE49-F238E27FC236}">
                <a16:creationId xmlns:a16="http://schemas.microsoft.com/office/drawing/2014/main" id="{F49A4C15-2B4A-E6CE-244E-23A6C078307B}"/>
              </a:ext>
            </a:extLst>
          </p:cNvPr>
          <p:cNvSpPr/>
          <p:nvPr/>
        </p:nvSpPr>
        <p:spPr>
          <a:xfrm>
            <a:off x="566928" y="403860"/>
            <a:ext cx="58083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12000"/>
              </a:lnSpc>
            </a:pP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8, 2026</a:t>
            </a:r>
            <a:r>
              <a:rPr lang="en-US" dirty="0">
                <a:solidFill>
                  <a:schemeClr val="bg1"/>
                </a:solidFill>
              </a:rPr>
              <a:t> •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Brandon _ India</a:t>
            </a:r>
            <a:r>
              <a:rPr lang="en-US" dirty="0">
                <a:solidFill>
                  <a:schemeClr val="bg1"/>
                </a:solidFill>
              </a:rPr>
              <a:t> • </a:t>
            </a:r>
            <a:r>
              <a:rPr lang="en-US" sz="16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600" dirty="0">
              <a:solidFill>
                <a:schemeClr val="bg1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206F056-9461-5C45-8F81-1A3B7327C89A}"/>
              </a:ext>
            </a:extLst>
          </p:cNvPr>
          <p:cNvSpPr txBox="1"/>
          <p:nvPr/>
        </p:nvSpPr>
        <p:spPr>
          <a:xfrm>
            <a:off x="3416808" y="462673"/>
            <a:ext cx="2958470" cy="333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hlinkClick r:id="rId3"/>
              </a:rPr>
              <a:t>accountadmin@majikl.com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 schedules. Ours creates, then learns.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Buffer, Hootsuite, and Sprout Social time the content you give them. Market Intelligence runs the entire loop, so each cycle is smarter than the last.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60120" y="2514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97864" y="2775204"/>
            <a:ext cx="530352" cy="530352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148" y="2902488"/>
            <a:ext cx="275783" cy="27578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660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828800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sources, on your topics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837176" y="2514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5074920" y="2775204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204" y="2902488"/>
            <a:ext cx="275783" cy="27578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705856" y="2660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5705856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drafts, your voice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714232" y="251460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8951976" y="2775204"/>
            <a:ext cx="530352" cy="530352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260" y="2902488"/>
            <a:ext cx="275783" cy="27578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582912" y="266090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9582912" y="304495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or company page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8714232" y="46177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6"/>
          <p:cNvSpPr/>
          <p:nvPr/>
        </p:nvSpPr>
        <p:spPr>
          <a:xfrm>
            <a:off x="8951976" y="4878324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260" y="5005608"/>
            <a:ext cx="275783" cy="27578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582912" y="4764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9582912" y="51480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results per post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4837176" y="46177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5074920" y="4878324"/>
            <a:ext cx="530352" cy="530352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02204" y="5005608"/>
            <a:ext cx="275783" cy="275783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5705856" y="4764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550" dirty="0"/>
          </a:p>
        </p:txBody>
      </p:sp>
      <p:sp>
        <p:nvSpPr>
          <p:cNvPr id="29" name="Text 22"/>
          <p:cNvSpPr/>
          <p:nvPr/>
        </p:nvSpPr>
        <p:spPr>
          <a:xfrm>
            <a:off x="5705856" y="51480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resonates, and why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960120" y="4617720"/>
            <a:ext cx="2514600" cy="1051560"/>
          </a:xfrm>
          <a:prstGeom prst="roundRect">
            <a:avLst>
              <a:gd name="adj" fmla="val 8696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4"/>
          <p:cNvSpPr/>
          <p:nvPr/>
        </p:nvSpPr>
        <p:spPr>
          <a:xfrm>
            <a:off x="1197864" y="4878324"/>
            <a:ext cx="530352" cy="530352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25148" y="5005608"/>
            <a:ext cx="275783" cy="27578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1828800" y="4764024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550" dirty="0"/>
          </a:p>
        </p:txBody>
      </p:sp>
      <p:sp>
        <p:nvSpPr>
          <p:cNvPr id="34" name="Text 26"/>
          <p:cNvSpPr/>
          <p:nvPr/>
        </p:nvSpPr>
        <p:spPr>
          <a:xfrm>
            <a:off x="1828800" y="514807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cycle improves</a:t>
            </a:r>
            <a:endParaRPr lang="en-US" sz="1000" dirty="0"/>
          </a:p>
        </p:txBody>
      </p:sp>
      <p:sp>
        <p:nvSpPr>
          <p:cNvPr id="35" name="Text 27"/>
          <p:cNvSpPr/>
          <p:nvPr/>
        </p:nvSpPr>
        <p:spPr>
          <a:xfrm>
            <a:off x="3474720" y="251460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6" name="Text 28"/>
          <p:cNvSpPr/>
          <p:nvPr/>
        </p:nvSpPr>
        <p:spPr>
          <a:xfrm>
            <a:off x="7351776" y="251460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600" dirty="0"/>
          </a:p>
        </p:txBody>
      </p:sp>
      <p:sp>
        <p:nvSpPr>
          <p:cNvPr id="37" name="Text 29"/>
          <p:cNvSpPr/>
          <p:nvPr/>
        </p:nvSpPr>
        <p:spPr>
          <a:xfrm>
            <a:off x="9697212" y="3566160"/>
            <a:ext cx="548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600" dirty="0"/>
          </a:p>
        </p:txBody>
      </p:sp>
      <p:sp>
        <p:nvSpPr>
          <p:cNvPr id="38" name="Text 30"/>
          <p:cNvSpPr/>
          <p:nvPr/>
        </p:nvSpPr>
        <p:spPr>
          <a:xfrm>
            <a:off x="7351776" y="461772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39" name="Text 31"/>
          <p:cNvSpPr/>
          <p:nvPr/>
        </p:nvSpPr>
        <p:spPr>
          <a:xfrm>
            <a:off x="3474720" y="4617720"/>
            <a:ext cx="13624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</a:t>
            </a:r>
            <a:endParaRPr lang="en-US" sz="2600" dirty="0"/>
          </a:p>
        </p:txBody>
      </p:sp>
      <p:sp>
        <p:nvSpPr>
          <p:cNvPr id="40" name="Text 32"/>
          <p:cNvSpPr/>
          <p:nvPr/>
        </p:nvSpPr>
        <p:spPr>
          <a:xfrm>
            <a:off x="1943100" y="3566160"/>
            <a:ext cx="548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2600" dirty="0"/>
          </a:p>
        </p:txBody>
      </p:sp>
      <p:sp>
        <p:nvSpPr>
          <p:cNvPr id="41" name="Shape 33"/>
          <p:cNvSpPr/>
          <p:nvPr/>
        </p:nvSpPr>
        <p:spPr>
          <a:xfrm>
            <a:off x="3392881" y="5952744"/>
            <a:ext cx="256032" cy="256032"/>
          </a:xfrm>
          <a:prstGeom prst="ellipse">
            <a:avLst/>
          </a:prstGeom>
          <a:solidFill>
            <a:srgbClr val="06B6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4"/>
          <p:cNvSpPr/>
          <p:nvPr/>
        </p:nvSpPr>
        <p:spPr>
          <a:xfrm>
            <a:off x="3392881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35"/>
          <p:cNvSpPr/>
          <p:nvPr/>
        </p:nvSpPr>
        <p:spPr>
          <a:xfrm>
            <a:off x="3722065" y="5943600"/>
            <a:ext cx="598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1200" dirty="0"/>
          </a:p>
        </p:txBody>
      </p:sp>
      <p:sp>
        <p:nvSpPr>
          <p:cNvPr id="44" name="Shape 36"/>
          <p:cNvSpPr/>
          <p:nvPr/>
        </p:nvSpPr>
        <p:spPr>
          <a:xfrm>
            <a:off x="4685843" y="5952744"/>
            <a:ext cx="256032" cy="25603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Text 37"/>
          <p:cNvSpPr/>
          <p:nvPr/>
        </p:nvSpPr>
        <p:spPr>
          <a:xfrm>
            <a:off x="4685843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6" name="Text 38"/>
          <p:cNvSpPr/>
          <p:nvPr/>
        </p:nvSpPr>
        <p:spPr>
          <a:xfrm>
            <a:off x="5015027" y="5943600"/>
            <a:ext cx="598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Amplify</a:t>
            </a:r>
            <a:endParaRPr lang="en-US" sz="1200" dirty="0"/>
          </a:p>
        </p:txBody>
      </p:sp>
      <p:sp>
        <p:nvSpPr>
          <p:cNvPr id="47" name="Shape 39"/>
          <p:cNvSpPr/>
          <p:nvPr/>
        </p:nvSpPr>
        <p:spPr>
          <a:xfrm>
            <a:off x="5978804" y="5952744"/>
            <a:ext cx="256032" cy="25603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0"/>
          <p:cNvSpPr/>
          <p:nvPr/>
        </p:nvSpPr>
        <p:spPr>
          <a:xfrm>
            <a:off x="5978804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9" name="Text 41"/>
          <p:cNvSpPr/>
          <p:nvPr/>
        </p:nvSpPr>
        <p:spPr>
          <a:xfrm>
            <a:off x="6307988" y="5943600"/>
            <a:ext cx="112288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to paid</a:t>
            </a:r>
            <a:endParaRPr lang="en-US" sz="1200" dirty="0"/>
          </a:p>
        </p:txBody>
      </p:sp>
      <p:sp>
        <p:nvSpPr>
          <p:cNvPr id="50" name="Shape 42"/>
          <p:cNvSpPr/>
          <p:nvPr/>
        </p:nvSpPr>
        <p:spPr>
          <a:xfrm>
            <a:off x="7796632" y="5952744"/>
            <a:ext cx="256032" cy="25603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1" name="Text 43"/>
          <p:cNvSpPr/>
          <p:nvPr/>
        </p:nvSpPr>
        <p:spPr>
          <a:xfrm>
            <a:off x="7796632" y="5952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2" name="Text 44"/>
          <p:cNvSpPr/>
          <p:nvPr/>
        </p:nvSpPr>
        <p:spPr>
          <a:xfrm>
            <a:off x="8125816" y="5943600"/>
            <a:ext cx="6729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</a:t>
            </a:r>
            <a:endParaRPr lang="en-US" sz="1200" dirty="0"/>
          </a:p>
        </p:txBody>
      </p:sp>
      <p:sp>
        <p:nvSpPr>
          <p:cNvPr id="53" name="Text 45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54" name="Text 46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phases, one compounding advantage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96112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Shape 5"/>
          <p:cNvSpPr/>
          <p:nvPr/>
        </p:nvSpPr>
        <p:spPr>
          <a:xfrm>
            <a:off x="2197532" y="2395728"/>
            <a:ext cx="603504" cy="603504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2373" y="2540569"/>
            <a:ext cx="313822" cy="31382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914400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914400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every post actually does.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914400" y="4709160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1097280" y="4832604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1243584" y="4709160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3459404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3733724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3715436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5400" dirty="0"/>
          </a:p>
        </p:txBody>
      </p:sp>
      <p:sp>
        <p:nvSpPr>
          <p:cNvPr id="17" name="Shape 14"/>
          <p:cNvSpPr/>
          <p:nvPr/>
        </p:nvSpPr>
        <p:spPr>
          <a:xfrm>
            <a:off x="5016856" y="2395728"/>
            <a:ext cx="603504" cy="603504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1697" y="2540569"/>
            <a:ext cx="313822" cy="31382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733724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Advocacy</a:t>
            </a:r>
            <a:endParaRPr lang="en-US" sz="1550" dirty="0"/>
          </a:p>
        </p:txBody>
      </p:sp>
      <p:sp>
        <p:nvSpPr>
          <p:cNvPr id="20" name="Text 16"/>
          <p:cNvSpPr/>
          <p:nvPr/>
        </p:nvSpPr>
        <p:spPr>
          <a:xfrm>
            <a:off x="3733724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team into a distribution engine.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3733724" y="4709160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8"/>
          <p:cNvSpPr/>
          <p:nvPr/>
        </p:nvSpPr>
        <p:spPr>
          <a:xfrm>
            <a:off x="3916604" y="4832604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9"/>
          <p:cNvSpPr/>
          <p:nvPr/>
        </p:nvSpPr>
        <p:spPr>
          <a:xfrm>
            <a:off x="4062908" y="4709160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6278728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1"/>
          <p:cNvSpPr/>
          <p:nvPr/>
        </p:nvSpPr>
        <p:spPr>
          <a:xfrm>
            <a:off x="6553048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6534760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5400" dirty="0"/>
          </a:p>
        </p:txBody>
      </p:sp>
      <p:sp>
        <p:nvSpPr>
          <p:cNvPr id="27" name="Shape 23"/>
          <p:cNvSpPr/>
          <p:nvPr/>
        </p:nvSpPr>
        <p:spPr>
          <a:xfrm>
            <a:off x="7836179" y="2395728"/>
            <a:ext cx="603504" cy="603504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1020" y="2540569"/>
            <a:ext cx="313822" cy="31382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553048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Organic-to-Paid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</a:t>
            </a:r>
            <a:endParaRPr lang="en-US" sz="1550" dirty="0"/>
          </a:p>
        </p:txBody>
      </p:sp>
      <p:sp>
        <p:nvSpPr>
          <p:cNvPr id="30" name="Text 25"/>
          <p:cNvSpPr/>
          <p:nvPr/>
        </p:nvSpPr>
        <p:spPr>
          <a:xfrm>
            <a:off x="6553048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proven posts into paid, in one click.</a:t>
            </a:r>
            <a:endParaRPr lang="en-US" sz="1150" dirty="0"/>
          </a:p>
        </p:txBody>
      </p:sp>
      <p:sp>
        <p:nvSpPr>
          <p:cNvPr id="31" name="Shape 26"/>
          <p:cNvSpPr/>
          <p:nvPr/>
        </p:nvSpPr>
        <p:spPr>
          <a:xfrm>
            <a:off x="6553048" y="4709160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7"/>
          <p:cNvSpPr/>
          <p:nvPr/>
        </p:nvSpPr>
        <p:spPr>
          <a:xfrm>
            <a:off x="6735928" y="48326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28"/>
          <p:cNvSpPr/>
          <p:nvPr/>
        </p:nvSpPr>
        <p:spPr>
          <a:xfrm>
            <a:off x="6882232" y="4709160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9098051" y="2011680"/>
            <a:ext cx="2453564" cy="3200400"/>
          </a:xfrm>
          <a:prstGeom prst="roundRect">
            <a:avLst>
              <a:gd name="adj" fmla="val 372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9372371" y="2286000"/>
            <a:ext cx="19049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9354083" y="2450592"/>
            <a:ext cx="19049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5400" dirty="0"/>
          </a:p>
        </p:txBody>
      </p:sp>
      <p:sp>
        <p:nvSpPr>
          <p:cNvPr id="37" name="Shape 32"/>
          <p:cNvSpPr/>
          <p:nvPr/>
        </p:nvSpPr>
        <p:spPr>
          <a:xfrm>
            <a:off x="10655503" y="2395728"/>
            <a:ext cx="603504" cy="60350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00344" y="2540569"/>
            <a:ext cx="313822" cy="313822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9372371" y="3383280"/>
            <a:ext cx="19506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</a:t>
            </a:r>
            <a:endParaRPr lang="en-US" sz="155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Optimization</a:t>
            </a:r>
            <a:endParaRPr lang="en-US" sz="1550" dirty="0"/>
          </a:p>
        </p:txBody>
      </p:sp>
      <p:sp>
        <p:nvSpPr>
          <p:cNvPr id="40" name="Text 34"/>
          <p:cNvSpPr/>
          <p:nvPr/>
        </p:nvSpPr>
        <p:spPr>
          <a:xfrm>
            <a:off x="9372371" y="4160520"/>
            <a:ext cx="19506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gets smarter every cycle.</a:t>
            </a:r>
            <a:endParaRPr lang="en-US" sz="1150" dirty="0"/>
          </a:p>
        </p:txBody>
      </p:sp>
      <p:sp>
        <p:nvSpPr>
          <p:cNvPr id="41" name="Shape 35"/>
          <p:cNvSpPr/>
          <p:nvPr/>
        </p:nvSpPr>
        <p:spPr>
          <a:xfrm>
            <a:off x="9372371" y="4709160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36"/>
          <p:cNvSpPr/>
          <p:nvPr/>
        </p:nvSpPr>
        <p:spPr>
          <a:xfrm>
            <a:off x="9555251" y="4832604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3" name="Text 37"/>
          <p:cNvSpPr/>
          <p:nvPr/>
        </p:nvSpPr>
        <p:spPr>
          <a:xfrm>
            <a:off x="9701555" y="4709160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44" name="Text 38"/>
          <p:cNvSpPr/>
          <p:nvPr/>
        </p:nvSpPr>
        <p:spPr>
          <a:xfrm>
            <a:off x="640080" y="54406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and 2 are live in release 2.2.19. Phases 3 and 4 are in active development.</a:t>
            </a:r>
            <a:endParaRPr lang="en-US" sz="1250" dirty="0"/>
          </a:p>
        </p:txBody>
      </p:sp>
      <p:sp>
        <p:nvSpPr>
          <p:cNvPr id="45" name="Text 39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6" name="Text 40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D0BE816-90AA-CC59-B772-210731618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682" y="0"/>
            <a:ext cx="673863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58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/  ORGANIZATION ANALYTICS DASHBOARD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10073945" y="603504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56825" y="726948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03129" y="603504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exactly what your content does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328898" y="2057400"/>
            <a:ext cx="548640" cy="54864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0571" y="2189074"/>
            <a:ext cx="285293" cy="285293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Impressions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2886395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3575213" y="2057400"/>
            <a:ext cx="548640" cy="54864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06886" y="2189074"/>
            <a:ext cx="285293" cy="285293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886395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5132710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2"/>
          <p:cNvSpPr/>
          <p:nvPr/>
        </p:nvSpPr>
        <p:spPr>
          <a:xfrm>
            <a:off x="5821528" y="2057400"/>
            <a:ext cx="548640" cy="54864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53201" y="2189074"/>
            <a:ext cx="285293" cy="28529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132710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Likes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7379025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8067843" y="2057400"/>
            <a:ext cx="548640" cy="54864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516" y="2189074"/>
            <a:ext cx="285293" cy="28529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79025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</a:t>
            </a:r>
            <a:endParaRPr lang="en-US" sz="1300" dirty="0"/>
          </a:p>
        </p:txBody>
      </p:sp>
      <p:sp>
        <p:nvSpPr>
          <p:cNvPr id="23" name="Shape 17"/>
          <p:cNvSpPr/>
          <p:nvPr/>
        </p:nvSpPr>
        <p:spPr>
          <a:xfrm>
            <a:off x="9625340" y="1874520"/>
            <a:ext cx="1926275" cy="1188720"/>
          </a:xfrm>
          <a:prstGeom prst="roundRect">
            <a:avLst>
              <a:gd name="adj" fmla="val 769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10314158" y="2057400"/>
            <a:ext cx="548640" cy="54864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45831" y="2189074"/>
            <a:ext cx="285293" cy="28529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9625340" y="2679192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Shares</a:t>
            </a:r>
            <a:endParaRPr lang="en-US" sz="1300" dirty="0"/>
          </a:p>
        </p:txBody>
      </p:sp>
      <p:sp>
        <p:nvSpPr>
          <p:cNvPr id="27" name="Text 20"/>
          <p:cNvSpPr/>
          <p:nvPr/>
        </p:nvSpPr>
        <p:spPr>
          <a:xfrm>
            <a:off x="640080" y="31546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exactly as LinkedIn reports them, and linked to the topic that produced each post.</a:t>
            </a:r>
            <a:endParaRPr lang="en-US" sz="1250" dirty="0"/>
          </a:p>
        </p:txBody>
      </p:sp>
      <p:sp>
        <p:nvSpPr>
          <p:cNvPr id="28" name="Shape 21"/>
          <p:cNvSpPr/>
          <p:nvPr/>
        </p:nvSpPr>
        <p:spPr>
          <a:xfrm>
            <a:off x="640080" y="393192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2"/>
          <p:cNvSpPr/>
          <p:nvPr/>
        </p:nvSpPr>
        <p:spPr>
          <a:xfrm>
            <a:off x="914400" y="4206240"/>
            <a:ext cx="566928" cy="56692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463" y="4342303"/>
            <a:ext cx="294803" cy="294803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914400" y="48920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by topic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914400" y="52578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your topics drive the most reach and engagement.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4429658" y="393192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26"/>
          <p:cNvSpPr/>
          <p:nvPr/>
        </p:nvSpPr>
        <p:spPr>
          <a:xfrm>
            <a:off x="4703978" y="4206240"/>
            <a:ext cx="566928" cy="566928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40041" y="4342303"/>
            <a:ext cx="294803" cy="294803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4703978" y="48920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day and time</a:t>
            </a:r>
            <a:endParaRPr lang="en-US" sz="1500" dirty="0"/>
          </a:p>
        </p:txBody>
      </p:sp>
      <p:sp>
        <p:nvSpPr>
          <p:cNvPr id="37" name="Text 28"/>
          <p:cNvSpPr/>
          <p:nvPr/>
        </p:nvSpPr>
        <p:spPr>
          <a:xfrm>
            <a:off x="4703978" y="52578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day-and-hour heatmap of when your audience shows up.</a:t>
            </a:r>
            <a:endParaRPr lang="en-US" sz="1200" dirty="0"/>
          </a:p>
        </p:txBody>
      </p:sp>
      <p:sp>
        <p:nvSpPr>
          <p:cNvPr id="38" name="Shape 29"/>
          <p:cNvSpPr/>
          <p:nvPr/>
        </p:nvSpPr>
        <p:spPr>
          <a:xfrm>
            <a:off x="8219237" y="3931920"/>
            <a:ext cx="3332378" cy="1965960"/>
          </a:xfrm>
          <a:prstGeom prst="roundRect">
            <a:avLst>
              <a:gd name="adj" fmla="val 4651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0"/>
          <p:cNvSpPr/>
          <p:nvPr/>
        </p:nvSpPr>
        <p:spPr>
          <a:xfrm>
            <a:off x="8493557" y="4206240"/>
            <a:ext cx="566928" cy="566928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29620" y="4342303"/>
            <a:ext cx="294803" cy="294803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8493557" y="4892040"/>
            <a:ext cx="2783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Follower demographics</a:t>
            </a:r>
            <a:endParaRPr lang="en-US" sz="1500" dirty="0"/>
          </a:p>
        </p:txBody>
      </p:sp>
      <p:sp>
        <p:nvSpPr>
          <p:cNvPr id="42" name="Text 32"/>
          <p:cNvSpPr/>
          <p:nvPr/>
        </p:nvSpPr>
        <p:spPr>
          <a:xfrm>
            <a:off x="8493557" y="5257800"/>
            <a:ext cx="27837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you reach, by industry, seniority, and geography.</a:t>
            </a:r>
            <a:endParaRPr lang="en-US" sz="1200" dirty="0"/>
          </a:p>
        </p:txBody>
      </p:sp>
      <p:sp>
        <p:nvSpPr>
          <p:cNvPr id="43" name="Text 3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44" name="Text 3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/  EMPLOYEE ADVOCACY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10073945" y="603504"/>
            <a:ext cx="1477670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256825" y="726948"/>
            <a:ext cx="82296" cy="82296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403129" y="603504"/>
            <a:ext cx="111191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team into a distribution engine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reach on a company page is limited, often cited at only 2 to 5 percent of followers. Employee shares reach their full networks instead.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291840"/>
            <a:ext cx="502920" cy="50292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781" y="3412541"/>
            <a:ext cx="261518" cy="26151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325880" y="327355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post, every network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1325880" y="35661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research, personalized for each team member.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4297680"/>
            <a:ext cx="502920" cy="50292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781" y="4418381"/>
            <a:ext cx="261518" cy="26151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325880" y="427939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and control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325880" y="45720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opt in and approve every post in their name.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903720" y="1874520"/>
            <a:ext cx="4647895" cy="4114800"/>
          </a:xfrm>
          <a:prstGeom prst="roundRect">
            <a:avLst>
              <a:gd name="adj" fmla="val 2222"/>
            </a:avLst>
          </a:prstGeom>
          <a:solidFill>
            <a:srgbClr val="0D1424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903720" y="2194560"/>
            <a:ext cx="4647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potential reach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6903720" y="2651760"/>
            <a:ext cx="46478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25,000</a:t>
            </a:r>
            <a:endParaRPr lang="en-US" sz="6600" dirty="0"/>
          </a:p>
        </p:txBody>
      </p:sp>
      <p:sp>
        <p:nvSpPr>
          <p:cNvPr id="19" name="Text 15"/>
          <p:cNvSpPr/>
          <p:nvPr/>
        </p:nvSpPr>
        <p:spPr>
          <a:xfrm>
            <a:off x="7178040" y="3703320"/>
            <a:ext cx="40992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team members, about 500 connections each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7452360" y="4297680"/>
            <a:ext cx="3550615" cy="0"/>
          </a:xfrm>
          <a:prstGeom prst="line">
            <a:avLst/>
          </a:prstGeom>
          <a:noFill/>
          <a:ln w="12700">
            <a:solidFill>
              <a:srgbClr val="27324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7360920" y="457200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10x</a:t>
            </a:r>
            <a:r>
              <a:rPr lang="en-US" sz="140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reach of your company page followers alone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7360920" y="5394960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publishing tool becomes a distribution engine.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4" name="Text 20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11297C-4D60-8261-5345-C07323993F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887" y="2008682"/>
            <a:ext cx="7078113" cy="484931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2769F2E-A048-615B-D4F7-E0FE2B71F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772400" cy="3844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9267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79BD3A-B4ED-7807-3020-59A9471213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330190" cy="410103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5FB3ED-33A8-55CA-F5EC-3FAF7E965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535" y="2756969"/>
            <a:ext cx="6989465" cy="4101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546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/  ORGANIC-TO-PAID BRIDGE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9998964" y="603504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181844" y="72694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28148" y="603504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budget behind what already works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an organic post outperforms, promoting it should be one click, not a rebuild in Campaign Manager.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351276"/>
            <a:ext cx="566928" cy="566928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463" y="3487339"/>
            <a:ext cx="294803" cy="29480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91640" y="314553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 suggestions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691640" y="349300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when a post clears your threshold.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24448" y="292608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98768" y="3351276"/>
            <a:ext cx="566928" cy="566928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4830" y="3487339"/>
            <a:ext cx="294803" cy="29480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76008" y="314553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One-click sponsored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376008" y="349300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a strong post without leaving the app.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0080" y="470916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914400" y="5134356"/>
            <a:ext cx="566928" cy="566928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0463" y="5270419"/>
            <a:ext cx="294803" cy="29480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91640" y="492861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 copy variants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1691640" y="527608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angles from the same research pipeline.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324448" y="4709160"/>
            <a:ext cx="5227168" cy="1417320"/>
          </a:xfrm>
          <a:prstGeom prst="roundRect">
            <a:avLst>
              <a:gd name="adj" fmla="val 6452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598768" y="5134356"/>
            <a:ext cx="566928" cy="566928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4830" y="5270419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76008" y="4928616"/>
            <a:ext cx="394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unified report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376008" y="5276088"/>
            <a:ext cx="3947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Organic and paid, side by side.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6172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roadmap. The value: promote what is already proven, instead of guessing.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 /  CLOSED-LOOP OPTIMIZATION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9998964" y="603504"/>
            <a:ext cx="1552651" cy="329184"/>
          </a:xfrm>
          <a:prstGeom prst="roundRect">
            <a:avLst>
              <a:gd name="adj" fmla="val 50000"/>
            </a:avLst>
          </a:prstGeom>
          <a:solidFill>
            <a:srgbClr val="1A2233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181844" y="726948"/>
            <a:ext cx="82296" cy="82296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328148" y="603504"/>
            <a:ext cx="118689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platform that gets smarter every cycle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64008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moat. Performance data feeds the next cycle, so the platform improves on its own instead of standing still.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283464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14400" y="3186684"/>
            <a:ext cx="530352" cy="530352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84" y="3313968"/>
            <a:ext cx="275783" cy="275783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45920" y="301752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topic weighting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1645920" y="336499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inform which topics come next.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24448" y="283464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598768" y="3186684"/>
            <a:ext cx="530352" cy="530352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6052" y="3313968"/>
            <a:ext cx="275783" cy="275783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330288" y="301752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rotation tuning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330288" y="336499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Favor the angles that prove out.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40080" y="438912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5"/>
          <p:cNvSpPr/>
          <p:nvPr/>
        </p:nvSpPr>
        <p:spPr>
          <a:xfrm>
            <a:off x="914400" y="4741164"/>
            <a:ext cx="530352" cy="530352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1684" y="4868448"/>
            <a:ext cx="275783" cy="275783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645920" y="457200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alignment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1645920" y="491947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your content to who you reach.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324448" y="4389120"/>
            <a:ext cx="5227168" cy="1234440"/>
          </a:xfrm>
          <a:prstGeom prst="roundRect">
            <a:avLst>
              <a:gd name="adj" fmla="val 7407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6598768" y="4741164"/>
            <a:ext cx="530352" cy="530352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6052" y="4868448"/>
            <a:ext cx="275783" cy="27578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30288" y="4572000"/>
            <a:ext cx="39927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cadence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7330288" y="4919472"/>
            <a:ext cx="39927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Frequency tunes to each account.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640080" y="564184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development. The building blocks (topic weighting, quality scoring, and cadence controls) already ship today.</a:t>
            </a:r>
            <a:endParaRPr lang="en-US" sz="1150" dirty="0"/>
          </a:p>
        </p:txBody>
      </p:sp>
      <p:sp>
        <p:nvSpPr>
          <p:cNvPr id="29" name="Text 23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30" name="Text 24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SHIPPED IN 2.2.19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more upgrades behind the loop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76856"/>
            <a:ext cx="640080" cy="64008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" y="2430475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33172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 brand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99008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as your personal profile or a company page you administer, switched live in the app.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96596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17056" y="2276856"/>
            <a:ext cx="640080" cy="640080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675" y="2430475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21728" y="233172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 delivery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35344" y="299008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LinkedIn connection refreshes itself, so scheduled posts stop failing overnight.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16052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32688" y="4471416"/>
            <a:ext cx="640080" cy="64008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" y="4625035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5262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AI engine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50976" y="518464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your provider and model, Claude, GPT, or Grok, and bring your own key.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24448" y="416052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17056" y="4471416"/>
            <a:ext cx="640080" cy="64008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675" y="4625035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21728" y="452628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 over posts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35344" y="518464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Reschedule, edit anytime, or write a post from scratch with no AI in the loop.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79854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TRUST AND SAFETY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40080" y="877824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Confidence, by design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32688" y="2231136"/>
            <a:ext cx="640080" cy="640080"/>
          </a:xfrm>
          <a:prstGeom prst="ellipse">
            <a:avLst/>
          </a:prstGeom>
          <a:solidFill>
            <a:srgbClr val="8B5C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" y="2384755"/>
            <a:ext cx="332842" cy="3328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37360" y="228600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Consent-first advocacy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94436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 opt in, approve each post, and can disconnect anytime. Credentials are encrypted and isolated.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24448" y="192024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617056" y="2231136"/>
            <a:ext cx="640080" cy="640080"/>
          </a:xfrm>
          <a:prstGeom prst="ellipse">
            <a:avLst/>
          </a:prstGeom>
          <a:solidFill>
            <a:srgbClr val="06B6D4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0675" y="2384755"/>
            <a:ext cx="332842" cy="33284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21728" y="228600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analytics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635344" y="294436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numbers only. No invented zeros, and AI summaries must cite your own data.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40080" y="411480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32688" y="4425696"/>
            <a:ext cx="640080" cy="640080"/>
          </a:xfrm>
          <a:prstGeom prst="ellipse">
            <a:avLst/>
          </a:prstGeom>
          <a:solidFill>
            <a:srgbClr val="3B82F6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307" y="4579315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737360" y="448056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content defenses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950976" y="513892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Improved detection of hidden instructions buried in outside news and feeds.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6324448" y="4114800"/>
            <a:ext cx="5227168" cy="1783080"/>
          </a:xfrm>
          <a:prstGeom prst="roundRect">
            <a:avLst>
              <a:gd name="adj" fmla="val 5128"/>
            </a:avLst>
          </a:prstGeom>
          <a:solidFill>
            <a:srgbClr val="1A2233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617056" y="4425696"/>
            <a:ext cx="640080" cy="640080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70675" y="4579315"/>
            <a:ext cx="332842" cy="33284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21728" y="4480560"/>
            <a:ext cx="3947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Owner-only controls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635344" y="5138928"/>
            <a:ext cx="46053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settings are enforced on the server, not just hidden in the interface.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194560" y="2926080"/>
            <a:ext cx="6035040" cy="6035040"/>
          </a:xfrm>
          <a:prstGeom prst="ellipse">
            <a:avLst/>
          </a:prstGeom>
          <a:solidFill>
            <a:srgbClr val="06B6D4">
              <a:alpha val="13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778240" y="-2194560"/>
            <a:ext cx="5669280" cy="5669280"/>
          </a:xfrm>
          <a:prstGeom prst="ellipse">
            <a:avLst/>
          </a:prstGeom>
          <a:solidFill>
            <a:srgbClr val="8B5CF6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234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LOOP, CLOSING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916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Research, generate, publish, measure,</a:t>
            </a:r>
            <a:endParaRPr lang="en-US" sz="3400" dirty="0"/>
          </a:p>
          <a:p>
            <a:pPr marL="0" indent="0">
              <a:lnSpc>
                <a:spcPct val="103000"/>
              </a:lnSpc>
              <a:buNone/>
            </a:pPr>
            <a:r>
              <a:rPr lang="en-US" sz="3400" b="1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learn, and improve.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40080" y="3429000"/>
            <a:ext cx="5074920" cy="1554480"/>
          </a:xfrm>
          <a:prstGeom prst="roundRect">
            <a:avLst>
              <a:gd name="adj" fmla="val 5882"/>
            </a:avLst>
          </a:prstGeom>
          <a:solidFill>
            <a:srgbClr val="0D1424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932688" y="3721608"/>
            <a:ext cx="512064" cy="512064"/>
          </a:xfrm>
          <a:prstGeom prst="ellipse">
            <a:avLst/>
          </a:prstGeom>
          <a:solidFill>
            <a:srgbClr val="10B981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342" y="3834262"/>
            <a:ext cx="286756" cy="28675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600200" y="373989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now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50976" y="4343400"/>
            <a:ext cx="4453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Analytics and Employee Advocacy, live in 2.2.19.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3429000"/>
            <a:ext cx="5074920" cy="1554480"/>
          </a:xfrm>
          <a:prstGeom prst="roundRect">
            <a:avLst>
              <a:gd name="adj" fmla="val 5882"/>
            </a:avLst>
          </a:prstGeom>
          <a:solidFill>
            <a:srgbClr val="0D1424"/>
          </a:solidFill>
          <a:ln w="15875">
            <a:solidFill>
              <a:srgbClr val="34435C"/>
            </a:solidFill>
            <a:prstDash val="solid"/>
          </a:ln>
          <a:effectLst>
            <a:outerShdw blurRad="127000" dist="38100" dir="5400000" algn="bl" rotWithShape="0">
              <a:srgbClr val="000000">
                <a:alpha val="3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464808" y="3721608"/>
            <a:ext cx="512064" cy="512064"/>
          </a:xfrm>
          <a:prstGeom prst="ellipse">
            <a:avLst/>
          </a:prstGeom>
          <a:solidFill>
            <a:srgbClr val="F59E0B"/>
          </a:solidFill>
          <a:ln/>
          <a:effectLst>
            <a:outerShdw blurRad="1016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462" y="3834262"/>
            <a:ext cx="286756" cy="2867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32320" y="373989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next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83096" y="4343400"/>
            <a:ext cx="4453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E8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Organic-to-Paid Bridge and Closed-Loop Optimization.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640080" y="5440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640080" y="577900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899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people who have something to say.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64008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0637215" y="64739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355</TotalTime>
  <Words>872</Words>
  <Application>Microsoft Macintosh PowerPoint</Application>
  <PresentationFormat>Widescreen</PresentationFormat>
  <Paragraphs>180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Intelligence: The Closed-Loop Content Intelligence System</dc:title>
  <dc:subject>PptxGenJS Presentation</dc:subject>
  <dc:creator>Market Intelligence</dc:creator>
  <cp:keywords/>
  <dc:description/>
  <cp:lastModifiedBy>Brandon R. India</cp:lastModifiedBy>
  <cp:revision>8</cp:revision>
  <dcterms:created xsi:type="dcterms:W3CDTF">2026-07-09T00:56:15Z</dcterms:created>
  <dcterms:modified xsi:type="dcterms:W3CDTF">2026-07-10T00:31:34Z</dcterms:modified>
  <cp:category/>
</cp:coreProperties>
</file>