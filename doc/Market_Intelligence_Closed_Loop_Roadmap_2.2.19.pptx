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67" r:id="rId5"/>
    <p:sldId id="259" r:id="rId6"/>
    <p:sldId id="260" r:id="rId7"/>
    <p:sldId id="266" r:id="rId8"/>
    <p:sldId id="268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03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1392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ccountadmin@majikl.com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103120"/>
            <a:ext cx="6217920" cy="6217920"/>
          </a:xfrm>
          <a:prstGeom prst="ellipse">
            <a:avLst/>
          </a:prstGeom>
          <a:solidFill>
            <a:srgbClr val="06B6D4">
              <a:alpha val="1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875520" y="2926080"/>
            <a:ext cx="4937760" cy="493776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 /  RELEASE 2.2.19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607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closed-loop</a:t>
            </a:r>
            <a:endParaRPr lang="en-US" sz="4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intelligence system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434340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LinkedIn tools schedule the content you bring them. Market Intelligence creates it from live research, publishes it, measures what performs, and makes the next cycle smarter.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62356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5779008"/>
            <a:ext cx="91440" cy="91440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87552" y="562356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09190" y="5623560"/>
            <a:ext cx="1340510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92070" y="5779008"/>
            <a:ext cx="91440" cy="91440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56662" y="5623560"/>
            <a:ext cx="97475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78301" y="5623560"/>
            <a:ext cx="1967789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961181" y="5779008"/>
            <a:ext cx="91440" cy="9144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125773" y="5623560"/>
            <a:ext cx="16020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paid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74690" y="5623560"/>
            <a:ext cx="1430122" cy="402336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57570" y="5779008"/>
            <a:ext cx="91440" cy="91440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322162" y="5623560"/>
            <a:ext cx="106436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F49A4C15-2B4A-E6CE-244E-23A6C078307B}"/>
              </a:ext>
            </a:extLst>
          </p:cNvPr>
          <p:cNvSpPr/>
          <p:nvPr/>
        </p:nvSpPr>
        <p:spPr>
          <a:xfrm>
            <a:off x="566928" y="403860"/>
            <a:ext cx="58083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2000"/>
              </a:lnSpc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8, 2026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Brandon _ India</a:t>
            </a:r>
            <a:r>
              <a:rPr lang="en-US" dirty="0">
                <a:solidFill>
                  <a:schemeClr val="bg1"/>
                </a:solidFill>
              </a:rPr>
              <a:t> •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06F056-9461-5C45-8F81-1A3B7327C89A}"/>
              </a:ext>
            </a:extLst>
          </p:cNvPr>
          <p:cNvSpPr txBox="1"/>
          <p:nvPr/>
        </p:nvSpPr>
        <p:spPr>
          <a:xfrm>
            <a:off x="3416808" y="462673"/>
            <a:ext cx="2958470" cy="333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98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hlinkClick r:id="rId3"/>
              </a:rPr>
              <a:t>accountadmin@majikl.com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tool schedules. Ours creates, then learns.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6276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Buffer, Hootsuite, and Sprout Social time the content you give them. Market Intelligence runs the entire loop, so each cycle is smarter than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97864" y="2775204"/>
            <a:ext cx="530352" cy="530352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48" y="2902488"/>
            <a:ext cx="275783" cy="27578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828800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sources, on your topics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37176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74920" y="277520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2204" y="2902488"/>
            <a:ext cx="275783" cy="27578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05856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5705856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drafts, your voice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714232" y="251460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951976" y="2775204"/>
            <a:ext cx="530352" cy="530352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60" y="2902488"/>
            <a:ext cx="275783" cy="27578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582912" y="266090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9582912" y="304495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or company page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8714232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8951976" y="487832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60" y="5005608"/>
            <a:ext cx="275783" cy="27578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82912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9582912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results per post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837176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074920" y="4878324"/>
            <a:ext cx="530352" cy="530352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02204" y="5005608"/>
            <a:ext cx="275783" cy="27578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05856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5705856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resonates, and why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960120" y="4617720"/>
            <a:ext cx="2514600" cy="1051560"/>
          </a:xfrm>
          <a:prstGeom prst="roundRect">
            <a:avLst>
              <a:gd name="adj" fmla="val 8696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4"/>
          <p:cNvSpPr/>
          <p:nvPr/>
        </p:nvSpPr>
        <p:spPr>
          <a:xfrm>
            <a:off x="1197864" y="4878324"/>
            <a:ext cx="530352" cy="530352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25148" y="5005608"/>
            <a:ext cx="275783" cy="27578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828800" y="476402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50" dirty="0"/>
          </a:p>
        </p:txBody>
      </p:sp>
      <p:sp>
        <p:nvSpPr>
          <p:cNvPr id="34" name="Text 26"/>
          <p:cNvSpPr/>
          <p:nvPr/>
        </p:nvSpPr>
        <p:spPr>
          <a:xfrm>
            <a:off x="1828800" y="514807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10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cycle improves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3474720" y="251460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6" name="Text 28"/>
          <p:cNvSpPr/>
          <p:nvPr/>
        </p:nvSpPr>
        <p:spPr>
          <a:xfrm>
            <a:off x="7351776" y="251460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37" name="Text 29"/>
          <p:cNvSpPr/>
          <p:nvPr/>
        </p:nvSpPr>
        <p:spPr>
          <a:xfrm>
            <a:off x="9697212" y="35661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600" dirty="0"/>
          </a:p>
        </p:txBody>
      </p:sp>
      <p:sp>
        <p:nvSpPr>
          <p:cNvPr id="38" name="Text 30"/>
          <p:cNvSpPr/>
          <p:nvPr/>
        </p:nvSpPr>
        <p:spPr>
          <a:xfrm>
            <a:off x="7351776" y="461772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39" name="Text 31"/>
          <p:cNvSpPr/>
          <p:nvPr/>
        </p:nvSpPr>
        <p:spPr>
          <a:xfrm>
            <a:off x="3474720" y="4617720"/>
            <a:ext cx="13624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2600" dirty="0"/>
          </a:p>
        </p:txBody>
      </p:sp>
      <p:sp>
        <p:nvSpPr>
          <p:cNvPr id="40" name="Text 32"/>
          <p:cNvSpPr/>
          <p:nvPr/>
        </p:nvSpPr>
        <p:spPr>
          <a:xfrm>
            <a:off x="1943100" y="3566160"/>
            <a:ext cx="548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600" dirty="0"/>
          </a:p>
        </p:txBody>
      </p:sp>
      <p:sp>
        <p:nvSpPr>
          <p:cNvPr id="41" name="Shape 33"/>
          <p:cNvSpPr/>
          <p:nvPr/>
        </p:nvSpPr>
        <p:spPr>
          <a:xfrm>
            <a:off x="3392881" y="5952744"/>
            <a:ext cx="256032" cy="256032"/>
          </a:xfrm>
          <a:prstGeom prst="ellipse">
            <a:avLst/>
          </a:prstGeom>
          <a:solidFill>
            <a:srgbClr val="06B6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392881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3" name="Text 35"/>
          <p:cNvSpPr/>
          <p:nvPr/>
        </p:nvSpPr>
        <p:spPr>
          <a:xfrm>
            <a:off x="3722065" y="5943600"/>
            <a:ext cx="598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200" dirty="0"/>
          </a:p>
        </p:txBody>
      </p:sp>
      <p:sp>
        <p:nvSpPr>
          <p:cNvPr id="44" name="Shape 36"/>
          <p:cNvSpPr/>
          <p:nvPr/>
        </p:nvSpPr>
        <p:spPr>
          <a:xfrm>
            <a:off x="4685843" y="5952744"/>
            <a:ext cx="256032" cy="256032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7"/>
          <p:cNvSpPr/>
          <p:nvPr/>
        </p:nvSpPr>
        <p:spPr>
          <a:xfrm>
            <a:off x="4685843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46" name="Text 38"/>
          <p:cNvSpPr/>
          <p:nvPr/>
        </p:nvSpPr>
        <p:spPr>
          <a:xfrm>
            <a:off x="5015027" y="5943600"/>
            <a:ext cx="5980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Amplify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5978804" y="5952744"/>
            <a:ext cx="256032" cy="256032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5978804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49" name="Text 41"/>
          <p:cNvSpPr/>
          <p:nvPr/>
        </p:nvSpPr>
        <p:spPr>
          <a:xfrm>
            <a:off x="6307988" y="5943600"/>
            <a:ext cx="11228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to paid</a:t>
            </a:r>
            <a:endParaRPr lang="en-US" sz="1200" dirty="0"/>
          </a:p>
        </p:txBody>
      </p:sp>
      <p:sp>
        <p:nvSpPr>
          <p:cNvPr id="50" name="Shape 42"/>
          <p:cNvSpPr/>
          <p:nvPr/>
        </p:nvSpPr>
        <p:spPr>
          <a:xfrm>
            <a:off x="7796632" y="5952744"/>
            <a:ext cx="256032" cy="256032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3"/>
          <p:cNvSpPr/>
          <p:nvPr/>
        </p:nvSpPr>
        <p:spPr>
          <a:xfrm>
            <a:off x="7796632" y="595274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52" name="Text 44"/>
          <p:cNvSpPr/>
          <p:nvPr/>
        </p:nvSpPr>
        <p:spPr>
          <a:xfrm>
            <a:off x="8125816" y="5943600"/>
            <a:ext cx="6729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53" name="Text 45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phases, one compounding 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96112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2197532" y="2395728"/>
            <a:ext cx="603504" cy="603504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373" y="2540569"/>
            <a:ext cx="313822" cy="3138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914400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every post actually does.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4709160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097280" y="48326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243584" y="4709160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3459404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733724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715436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5400" dirty="0"/>
          </a:p>
        </p:txBody>
      </p:sp>
      <p:sp>
        <p:nvSpPr>
          <p:cNvPr id="17" name="Shape 14"/>
          <p:cNvSpPr/>
          <p:nvPr/>
        </p:nvSpPr>
        <p:spPr>
          <a:xfrm>
            <a:off x="5016856" y="2395728"/>
            <a:ext cx="603504" cy="603504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697" y="2540569"/>
            <a:ext cx="313822" cy="31382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733724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Advocacy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3733724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team into a distribution engine.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3733724" y="4709160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3916604" y="4832604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9"/>
          <p:cNvSpPr/>
          <p:nvPr/>
        </p:nvSpPr>
        <p:spPr>
          <a:xfrm>
            <a:off x="4062908" y="4709160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6278728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6553048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534760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5400" dirty="0"/>
          </a:p>
        </p:txBody>
      </p:sp>
      <p:sp>
        <p:nvSpPr>
          <p:cNvPr id="27" name="Shape 23"/>
          <p:cNvSpPr/>
          <p:nvPr/>
        </p:nvSpPr>
        <p:spPr>
          <a:xfrm>
            <a:off x="7836179" y="2395728"/>
            <a:ext cx="603504" cy="60350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1020" y="2540569"/>
            <a:ext cx="313822" cy="31382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553048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Organic-to-Paid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</a:t>
            </a:r>
            <a:endParaRPr lang="en-US" sz="1550" dirty="0"/>
          </a:p>
        </p:txBody>
      </p:sp>
      <p:sp>
        <p:nvSpPr>
          <p:cNvPr id="30" name="Text 25"/>
          <p:cNvSpPr/>
          <p:nvPr/>
        </p:nvSpPr>
        <p:spPr>
          <a:xfrm>
            <a:off x="6553048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proven posts into paid, in one click.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6553048" y="4709160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7"/>
          <p:cNvSpPr/>
          <p:nvPr/>
        </p:nvSpPr>
        <p:spPr>
          <a:xfrm>
            <a:off x="6735928" y="48326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6882232" y="4709160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34" name="Shape 29"/>
          <p:cNvSpPr/>
          <p:nvPr/>
        </p:nvSpPr>
        <p:spPr>
          <a:xfrm>
            <a:off x="9098051" y="2011680"/>
            <a:ext cx="2453564" cy="3200400"/>
          </a:xfrm>
          <a:prstGeom prst="roundRect">
            <a:avLst>
              <a:gd name="adj" fmla="val 372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0"/>
          <p:cNvSpPr/>
          <p:nvPr/>
        </p:nvSpPr>
        <p:spPr>
          <a:xfrm>
            <a:off x="9372371" y="2286000"/>
            <a:ext cx="19049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9354083" y="2450592"/>
            <a:ext cx="19049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5400" dirty="0"/>
          </a:p>
        </p:txBody>
      </p:sp>
      <p:sp>
        <p:nvSpPr>
          <p:cNvPr id="37" name="Shape 32"/>
          <p:cNvSpPr/>
          <p:nvPr/>
        </p:nvSpPr>
        <p:spPr>
          <a:xfrm>
            <a:off x="10655503" y="2395728"/>
            <a:ext cx="603504" cy="60350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00344" y="2540569"/>
            <a:ext cx="313822" cy="313822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9372371" y="3383280"/>
            <a:ext cx="19506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</a:t>
            </a:r>
            <a:endParaRPr lang="en-US" sz="1550" dirty="0"/>
          </a:p>
          <a:p>
            <a:pPr marL="0" indent="0">
              <a:lnSpc>
                <a:spcPct val="98000"/>
              </a:lnSpc>
              <a:buNone/>
            </a:pPr>
            <a:r>
              <a:rPr lang="en-US" sz="15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550" dirty="0"/>
          </a:p>
        </p:txBody>
      </p:sp>
      <p:sp>
        <p:nvSpPr>
          <p:cNvPr id="40" name="Text 34"/>
          <p:cNvSpPr/>
          <p:nvPr/>
        </p:nvSpPr>
        <p:spPr>
          <a:xfrm>
            <a:off x="9372371" y="416052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gets smarter every cycle.</a:t>
            </a:r>
            <a:endParaRPr lang="en-US" sz="1150" dirty="0"/>
          </a:p>
        </p:txBody>
      </p:sp>
      <p:sp>
        <p:nvSpPr>
          <p:cNvPr id="41" name="Shape 35"/>
          <p:cNvSpPr/>
          <p:nvPr/>
        </p:nvSpPr>
        <p:spPr>
          <a:xfrm>
            <a:off x="9372371" y="4709160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9555251" y="4832604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9701555" y="4709160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44" name="Text 38"/>
          <p:cNvSpPr/>
          <p:nvPr/>
        </p:nvSpPr>
        <p:spPr>
          <a:xfrm>
            <a:off x="640080" y="54406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 1 and 2 are live in release 2.2.19. Phases 3 and 4 are in active development.</a:t>
            </a:r>
            <a:endParaRPr lang="en-US" sz="1250" dirty="0"/>
          </a:p>
        </p:txBody>
      </p:sp>
      <p:sp>
        <p:nvSpPr>
          <p:cNvPr id="45" name="Text 3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0BE816-90AA-CC59-B772-2107316184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682" y="0"/>
            <a:ext cx="673863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058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/  ORGANIZATION ANALYTICS DASHBOARD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073945" y="603504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6825" y="72694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03129" y="603504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what your content does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28898" y="2057400"/>
            <a:ext cx="548640" cy="54864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0571" y="2189074"/>
            <a:ext cx="285293" cy="28529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Impressions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886395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575213" y="2057400"/>
            <a:ext cx="548640" cy="54864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6886" y="218907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6395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3271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821528" y="2057400"/>
            <a:ext cx="548640" cy="54864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3201" y="218907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3271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7379025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8067843" y="205740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16" y="218907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79025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9625340" y="1874520"/>
            <a:ext cx="1926275" cy="1188720"/>
          </a:xfrm>
          <a:prstGeom prst="roundRect">
            <a:avLst>
              <a:gd name="adj" fmla="val 769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314158" y="2057400"/>
            <a:ext cx="548640" cy="54864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45831" y="2189074"/>
            <a:ext cx="285293" cy="285293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625340" y="2679192"/>
            <a:ext cx="19262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40080" y="315468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Shown exactly as LinkedIn reports them, and linked to the topic that produced each post.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640080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914400" y="4206240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0463" y="4342303"/>
            <a:ext cx="294803" cy="294803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14400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by topic</a:t>
            </a:r>
            <a:endParaRPr lang="en-US" sz="1500" dirty="0"/>
          </a:p>
        </p:txBody>
      </p:sp>
      <p:sp>
        <p:nvSpPr>
          <p:cNvPr id="32" name="Text 24"/>
          <p:cNvSpPr/>
          <p:nvPr/>
        </p:nvSpPr>
        <p:spPr>
          <a:xfrm>
            <a:off x="914400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topics drive the most reach and engagement.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429658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6"/>
          <p:cNvSpPr/>
          <p:nvPr/>
        </p:nvSpPr>
        <p:spPr>
          <a:xfrm>
            <a:off x="4703978" y="4206240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0041" y="4342303"/>
            <a:ext cx="294803" cy="294803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4703978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day and time</a:t>
            </a:r>
            <a:endParaRPr lang="en-US" sz="1500" dirty="0"/>
          </a:p>
        </p:txBody>
      </p:sp>
      <p:sp>
        <p:nvSpPr>
          <p:cNvPr id="37" name="Text 28"/>
          <p:cNvSpPr/>
          <p:nvPr/>
        </p:nvSpPr>
        <p:spPr>
          <a:xfrm>
            <a:off x="4703978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day-and-hour heatmap of when your audience shows up.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8219237" y="3931920"/>
            <a:ext cx="3332378" cy="1965960"/>
          </a:xfrm>
          <a:prstGeom prst="roundRect">
            <a:avLst>
              <a:gd name="adj" fmla="val 4651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0"/>
          <p:cNvSpPr/>
          <p:nvPr/>
        </p:nvSpPr>
        <p:spPr>
          <a:xfrm>
            <a:off x="8493557" y="4206240"/>
            <a:ext cx="566928" cy="56692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29620" y="4342303"/>
            <a:ext cx="294803" cy="294803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8493557" y="4892040"/>
            <a:ext cx="27837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demographics</a:t>
            </a:r>
            <a:endParaRPr lang="en-US" sz="1500" dirty="0"/>
          </a:p>
        </p:txBody>
      </p:sp>
      <p:sp>
        <p:nvSpPr>
          <p:cNvPr id="42" name="Text 32"/>
          <p:cNvSpPr/>
          <p:nvPr/>
        </p:nvSpPr>
        <p:spPr>
          <a:xfrm>
            <a:off x="8493557" y="5257800"/>
            <a:ext cx="278373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reach, by industry, seniority, and geography.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44" name="Text 3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/  EMPLOYEE ADVOCACY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10073945" y="603504"/>
            <a:ext cx="1477670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256825" y="726948"/>
            <a:ext cx="82296" cy="82296"/>
          </a:xfrm>
          <a:prstGeom prst="ellipse">
            <a:avLst/>
          </a:prstGeom>
          <a:solidFill>
            <a:srgbClr val="10B98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403129" y="603504"/>
            <a:ext cx="111191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your team into a distribution engine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reach on a company page is limited, often cited at only 2 to 5 percent of followers. Employee shares reach their full networks instead.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3291840"/>
            <a:ext cx="502920" cy="50292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41254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32735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post, every network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1325880" y="3566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research, personalized for each team member.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4297680"/>
            <a:ext cx="502920" cy="50292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441838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25880" y="427939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and control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25880" y="4572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 and approve every post in their name.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903720" y="1874520"/>
            <a:ext cx="4647895" cy="4114800"/>
          </a:xfrm>
          <a:prstGeom prst="roundRect">
            <a:avLst>
              <a:gd name="adj" fmla="val 222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3"/>
          <p:cNvSpPr/>
          <p:nvPr/>
        </p:nvSpPr>
        <p:spPr>
          <a:xfrm>
            <a:off x="6903720" y="2194560"/>
            <a:ext cx="4647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potential reach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903720" y="2651760"/>
            <a:ext cx="46478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25,000</a:t>
            </a:r>
            <a:endParaRPr lang="en-US" sz="6600" dirty="0"/>
          </a:p>
        </p:txBody>
      </p:sp>
      <p:sp>
        <p:nvSpPr>
          <p:cNvPr id="19" name="Text 15"/>
          <p:cNvSpPr/>
          <p:nvPr/>
        </p:nvSpPr>
        <p:spPr>
          <a:xfrm>
            <a:off x="7178040" y="3703320"/>
            <a:ext cx="4099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team members, about 500 connections each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7452360" y="4297680"/>
            <a:ext cx="3550615" cy="0"/>
          </a:xfrm>
          <a:prstGeom prst="line">
            <a:avLst/>
          </a:prstGeom>
          <a:noFill/>
          <a:ln w="12700">
            <a:solidFill>
              <a:srgbClr val="27324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7360920" y="4572000"/>
            <a:ext cx="3733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10x</a:t>
            </a:r>
            <a:r>
              <a:rPr lang="en-US" sz="14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reach of your company page followers alone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7360920" y="5394960"/>
            <a:ext cx="37334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publishing tool becomes a distribution engine.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D8027-4ADF-3B55-839D-CA4CC3F2E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86129"/>
            <a:ext cx="7069629" cy="45593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311297C-4D60-8261-5345-C07323993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3887" y="2008682"/>
            <a:ext cx="7078113" cy="4849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0926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79BD3A-B4ED-7807-3020-59A947121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330190" cy="410103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D5FB3ED-33A8-55CA-F5EC-3FAF7E965B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535" y="2756969"/>
            <a:ext cx="6989465" cy="410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546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/  ORGANIC-TO-PAID BRIDGE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998964" y="603504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81844" y="726948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28148" y="603504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budget behind what already works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an organic post outperforms, promoting it should be one click, not a rebuild in Campaign Manager.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351276"/>
            <a:ext cx="566928" cy="566928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0463" y="3487339"/>
            <a:ext cx="294803" cy="29480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91640" y="314553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suggestions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691640" y="349300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prompt when a post clears your threshold.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24448" y="292608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98768" y="3351276"/>
            <a:ext cx="566928" cy="566928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4830" y="3487339"/>
            <a:ext cx="294803" cy="29480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76008" y="314553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sponsored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7376008" y="349300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a strong post without leaving the app.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70916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5134356"/>
            <a:ext cx="566928" cy="566928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463" y="5270419"/>
            <a:ext cx="294803" cy="294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492861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 copy variants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691640" y="527608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angles from the same research pipeline.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24448" y="4709160"/>
            <a:ext cx="5227168" cy="1417320"/>
          </a:xfrm>
          <a:prstGeom prst="roundRect">
            <a:avLst>
              <a:gd name="adj" fmla="val 6452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8768" y="5134356"/>
            <a:ext cx="566928" cy="566928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4830" y="5270419"/>
            <a:ext cx="294803" cy="29480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76008" y="4928616"/>
            <a:ext cx="39470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report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376008" y="5276088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6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and paid, side by side.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617220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roadmap. The value: promote what is already proven, instead of guessing.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/  CLOSED-LOOP OPTIMIZATION</a:t>
            </a:r>
            <a:endParaRPr lang="en-US" sz="1250" dirty="0"/>
          </a:p>
        </p:txBody>
      </p:sp>
      <p:sp>
        <p:nvSpPr>
          <p:cNvPr id="3" name="Shape 1"/>
          <p:cNvSpPr/>
          <p:nvPr/>
        </p:nvSpPr>
        <p:spPr>
          <a:xfrm>
            <a:off x="9998964" y="603504"/>
            <a:ext cx="1552651" cy="329184"/>
          </a:xfrm>
          <a:prstGeom prst="roundRect">
            <a:avLst>
              <a:gd name="adj" fmla="val 50000"/>
            </a:avLst>
          </a:prstGeom>
          <a:solidFill>
            <a:srgbClr val="1A223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181844" y="726948"/>
            <a:ext cx="82296" cy="82296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328148" y="603504"/>
            <a:ext cx="1186891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that gets smarter every cycle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8000"/>
              </a:lnSpc>
              <a:buNone/>
            </a:pPr>
            <a:r>
              <a:rPr lang="en-US" sz="14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moat. Performance data feeds the next cycle, so the platform improves on its own instead of standing still.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3186684"/>
            <a:ext cx="530352" cy="530352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684" y="3313968"/>
            <a:ext cx="275783" cy="275783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301752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topic weighting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645920" y="336499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inform which topics come next.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324448" y="283464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598768" y="3186684"/>
            <a:ext cx="530352" cy="530352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052" y="3313968"/>
            <a:ext cx="275783" cy="27578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330288" y="301752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Angle rotation tuning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7330288" y="336499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 the angles that prove out.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40080" y="438912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914400" y="4741164"/>
            <a:ext cx="530352" cy="530352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684" y="4868448"/>
            <a:ext cx="275783" cy="27578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457200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alignment</a:t>
            </a:r>
            <a:endParaRPr lang="en-US" sz="1450" dirty="0"/>
          </a:p>
        </p:txBody>
      </p:sp>
      <p:sp>
        <p:nvSpPr>
          <p:cNvPr id="22" name="Text 17"/>
          <p:cNvSpPr/>
          <p:nvPr/>
        </p:nvSpPr>
        <p:spPr>
          <a:xfrm>
            <a:off x="1645920" y="491947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content to who you reach.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324448" y="4389120"/>
            <a:ext cx="5227168" cy="1234440"/>
          </a:xfrm>
          <a:prstGeom prst="roundRect">
            <a:avLst>
              <a:gd name="adj" fmla="val 7407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6598768" y="4741164"/>
            <a:ext cx="530352" cy="530352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052" y="4868448"/>
            <a:ext cx="275783" cy="27578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330288" y="4572000"/>
            <a:ext cx="39927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cadence</a:t>
            </a:r>
            <a:endParaRPr lang="en-US" sz="1450" dirty="0"/>
          </a:p>
        </p:txBody>
      </p:sp>
      <p:sp>
        <p:nvSpPr>
          <p:cNvPr id="27" name="Text 21"/>
          <p:cNvSpPr/>
          <p:nvPr/>
        </p:nvSpPr>
        <p:spPr>
          <a:xfrm>
            <a:off x="7330288" y="491947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tunes to each account.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40080" y="5641848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development. The building blocks (topic weighting, quality scoring, and cadence controls) already ship today.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SHIPPED IN 2.2.19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more upgrades behind the loop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76856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43047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33172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brand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99008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as your personal profile or a company page you administer, switched live in the app.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6596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7056" y="2276856"/>
            <a:ext cx="640080" cy="640080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75" y="243047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33172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delivery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344" y="299008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LinkedIn connection refreshes itself, so scheduled posts stop failing overnight.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605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47141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62503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5262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AI engine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" y="518464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provider and model, Claude, GPT, or Grok, and bring your own key.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4448" y="416052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7056" y="4471416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675" y="462503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52628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control over posts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35344" y="518464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Reschedule, edit anytime, or write a post from scratch with no AI in the loop.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TRUST AND SAFETY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877824"/>
            <a:ext cx="109115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Confidence, by design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32688" y="2231136"/>
            <a:ext cx="640080" cy="640080"/>
          </a:xfrm>
          <a:prstGeom prst="ellipse">
            <a:avLst/>
          </a:prstGeom>
          <a:solidFill>
            <a:srgbClr val="8B5C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307" y="2384755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Consent-first advocacy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50976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opt in, approve each post, and can disconnect anytime. Credentials are encrypted and isolated.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24448" y="192024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17056" y="2231136"/>
            <a:ext cx="640080" cy="640080"/>
          </a:xfrm>
          <a:prstGeom prst="ellipse">
            <a:avLst/>
          </a:prstGeom>
          <a:solidFill>
            <a:srgbClr val="06B6D4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675" y="2384755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21728" y="228600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analytics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635344" y="294436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numbers only. No invented zeros, and AI summaries must cite your own data.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932688" y="4425696"/>
            <a:ext cx="640080" cy="640080"/>
          </a:xfrm>
          <a:prstGeom prst="ellipse">
            <a:avLst/>
          </a:prstGeom>
          <a:solidFill>
            <a:srgbClr val="3B82F6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6307" y="4579315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content defenses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950976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detection of hidden instructions buried in outside news and feeds.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324448" y="4114800"/>
            <a:ext cx="5227168" cy="1783080"/>
          </a:xfrm>
          <a:prstGeom prst="roundRect">
            <a:avLst>
              <a:gd name="adj" fmla="val 5128"/>
            </a:avLst>
          </a:prstGeom>
          <a:solidFill>
            <a:srgbClr val="1A2233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617056" y="4425696"/>
            <a:ext cx="640080" cy="640080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675" y="4579315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21728" y="4480560"/>
            <a:ext cx="39470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Owner-only controls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635344" y="5138928"/>
            <a:ext cx="46053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settings are enforced on the server, not just hidden in the interface.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2926080"/>
            <a:ext cx="6035040" cy="6035040"/>
          </a:xfrm>
          <a:prstGeom prst="ellipse">
            <a:avLst/>
          </a:prstGeom>
          <a:solidFill>
            <a:srgbClr val="06B6D4">
              <a:alpha val="13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778240" y="-2194560"/>
            <a:ext cx="5669280" cy="5669280"/>
          </a:xfrm>
          <a:prstGeom prst="ellipse">
            <a:avLst/>
          </a:prstGeom>
          <a:solidFill>
            <a:srgbClr val="8B5CF6">
              <a:alpha val="1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CLOSING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Research, generate, publish, measure,</a:t>
            </a:r>
            <a:endParaRPr lang="en-US" sz="34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3400" b="1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and improve.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342900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932688" y="3721608"/>
            <a:ext cx="512064" cy="512064"/>
          </a:xfrm>
          <a:prstGeom prst="ellipse">
            <a:avLst/>
          </a:prstGeom>
          <a:solidFill>
            <a:srgbClr val="10B981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342" y="3834262"/>
            <a:ext cx="286756" cy="2867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00200" y="3739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now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50976" y="434340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Analytics and Employee Advocacy, live in 2.2.19.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3429000"/>
            <a:ext cx="5074920" cy="1554480"/>
          </a:xfrm>
          <a:prstGeom prst="roundRect">
            <a:avLst>
              <a:gd name="adj" fmla="val 5882"/>
            </a:avLst>
          </a:prstGeom>
          <a:solidFill>
            <a:srgbClr val="0D1424"/>
          </a:solidFill>
          <a:ln w="15875">
            <a:solidFill>
              <a:srgbClr val="34435C"/>
            </a:solidFill>
            <a:prstDash val="solid"/>
          </a:ln>
          <a:effectLst>
            <a:outerShdw blurRad="1270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64808" y="37216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101600" dist="254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7462" y="3834262"/>
            <a:ext cx="286756" cy="286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3739896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Coming next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83096" y="4343400"/>
            <a:ext cx="4453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Organic-to-Paid Bridge and Closed-Loop Optimization.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" y="5440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40080" y="57790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people who have something to say.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64008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Intelligence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872</Words>
  <Application>Microsoft Macintosh PowerPoint</Application>
  <PresentationFormat>Widescreen</PresentationFormat>
  <Paragraphs>180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PptxGenJS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 Intelligence: The Closed-Loop Content Intelligence System</dc:title>
  <dc:subject>PptxGenJS Presentation</dc:subject>
  <dc:creator>Market Intelligence</dc:creator>
  <cp:keywords/>
  <dc:description/>
  <cp:lastModifiedBy>Brandon R. India</cp:lastModifiedBy>
  <cp:revision>4</cp:revision>
  <dcterms:created xsi:type="dcterms:W3CDTF">2026-07-09T00:56:15Z</dcterms:created>
  <dcterms:modified xsi:type="dcterms:W3CDTF">2026-07-09T14:37:56Z</dcterms:modified>
  <cp:category/>
</cp:coreProperties>
</file>