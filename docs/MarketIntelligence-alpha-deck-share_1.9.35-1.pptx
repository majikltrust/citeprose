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57" r:id="rId14"/>
    <p:sldId id="258" r:id="rId15"/>
    <p:sldId id="259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43"/>
    <p:restoredTop sz="96137"/>
  </p:normalViewPr>
  <p:slideViewPr>
    <p:cSldViewPr snapToGrid="0" snapToObjects="1">
      <p:cViewPr>
        <p:scale>
          <a:sx n="103" d="100"/>
          <a:sy n="103" d="100"/>
        </p:scale>
        <p:origin x="4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4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80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80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977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brandon@majik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accountadmin@majikl.co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19223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82880" y="4572000"/>
            <a:ext cx="2743200" cy="2743200"/>
          </a:xfrm>
          <a:prstGeom prst="ellipse">
            <a:avLst/>
          </a:prstGeom>
          <a:solidFill>
            <a:srgbClr val="14213B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6126480" cy="557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RELEASE · 1.9.35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158877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</a:t>
            </a:r>
            <a:endParaRPr lang="en-US" sz="4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Content Agent</a:t>
            </a:r>
            <a:endParaRPr lang="en-US" sz="2400" b="1" dirty="0">
              <a:solidFill>
                <a:srgbClr val="FFFFFF"/>
              </a:solidFill>
              <a:latin typeface="Cambria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6928" y="403860"/>
            <a:ext cx="7751684" cy="42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25, 2026</a:t>
            </a:r>
            <a:r>
              <a:rPr lang="en-US" dirty="0">
                <a:solidFill>
                  <a:schemeClr val="bg1"/>
                </a:solidFill>
              </a:rPr>
              <a:t>  • 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_ India</a:t>
            </a:r>
            <a:r>
              <a:rPr lang="en-US" dirty="0">
                <a:solidFill>
                  <a:schemeClr val="bg1"/>
                </a:solidFill>
              </a:rPr>
              <a:t>  •  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hlinkClick r:id="rId4"/>
              </a:rPr>
              <a:t>brandon@majikl.com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4892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6928" y="4892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alpha.majikl.com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78608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</a:t>
            </a:r>
            <a:endParaRPr lang="en-US" sz="13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B57D5D4-BF59-1626-9FD7-A94BDDE419A8}"/>
              </a:ext>
            </a:extLst>
          </p:cNvPr>
          <p:cNvSpPr/>
          <p:nvPr/>
        </p:nvSpPr>
        <p:spPr>
          <a:xfrm>
            <a:off x="719328" y="37642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research in. Governed, on-brand posts out, published to your company page, with a human in command.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research feed to a published post, autonomously, with a human in command.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0920" y="960120"/>
            <a:ext cx="42976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87452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031431"/>
            <a:ext cx="289682" cy="2896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53312" y="1828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per organization
</a:t>
            </a:r>
            <a:r>
              <a:rPr lang="en-US" sz="118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SaaS: every tenant gets a private, row-level-secured workspace and its own data.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66928" y="295351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110423"/>
            <a:ext cx="289682" cy="2896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53312" y="290779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live sources
</a:t>
            </a:r>
            <a:r>
              <a:rPr lang="en-US" sz="118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your RSS/Atom feeds and drafts posts from current, corroborated research.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66928" y="4032504"/>
            <a:ext cx="603504" cy="603504"/>
          </a:xfrm>
          <a:prstGeom prst="ellipse">
            <a:avLst/>
          </a:prstGeom>
          <a:solidFill>
            <a:srgbClr val="F5B841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189415"/>
            <a:ext cx="289682" cy="2896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53312" y="3986784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gate
</a:t>
            </a:r>
            <a:r>
              <a:rPr lang="en-US" sz="118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company page until an owner approves it. The gate is server-enforced.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66928" y="5111496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39" y="5268407"/>
            <a:ext cx="289682" cy="28968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53312" y="506577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on schedule
</a:t>
            </a:r>
            <a:r>
              <a:rPr lang="en-US" sz="118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posts publish automatically to your LinkedIn organization page at the right time.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roles, one governed workspace.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77824" y="2103120"/>
            <a:ext cx="841248" cy="841248"/>
          </a:xfrm>
          <a:prstGeom prst="ellipse">
            <a:avLst/>
          </a:prstGeom>
          <a:solidFill>
            <a:srgbClr val="F5B84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7824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47088" y="2139696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Dana, Owner
</a:t>
            </a:r>
            <a:r>
              <a:rPr lang="en-US" sz="1200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Director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20040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workspace. Invites teammates, sets roles, owns the global topics, and is the one who approves what ships.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7824" y="461772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33856" y="461772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7824" y="5056632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33856" y="505663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5495544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33856" y="5495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7408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18304" y="2103120"/>
            <a:ext cx="841248" cy="84124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18304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87568" y="2139696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Marcus, Member
</a:t>
            </a: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Strategist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18304" y="320040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topics into posts. Builds angles, generates drafts from research, refines with AI, and submits for approval.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18304" y="461772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74336" y="461772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topics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18304" y="5056632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74336" y="505663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refine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18304" y="5495544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74336" y="5495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47888" y="1783080"/>
            <a:ext cx="3511296" cy="4160520"/>
          </a:xfrm>
          <a:prstGeom prst="roundRect">
            <a:avLst>
              <a:gd name="adj" fmla="val 2604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558784" y="2103120"/>
            <a:ext cx="841248" cy="841248"/>
          </a:xfrm>
          <a:prstGeom prst="ellipse">
            <a:avLst/>
          </a:prstGeom>
          <a:solidFill>
            <a:srgbClr val="8B7FE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58784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528048" y="2139696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Member
</a:t>
            </a:r>
            <a:r>
              <a:rPr lang="en-US" sz="1200" dirty="0">
                <a:solidFill>
                  <a:srgbClr val="6A5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58784" y="3200400"/>
            <a:ext cx="2889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sourcing honest. Discovers and validates feeds, tags domains, and tunes the research instructions.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58784" y="461772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814816" y="461772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5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discovery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58784" y="5056632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814816" y="505663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5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tuning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558784" y="5495544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814816" y="54955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5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accuracy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POST MOVES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user-visible states. The approval gate is the control point, and a client can never skip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15875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143000" y="2560320"/>
            <a:ext cx="731520" cy="731520"/>
          </a:xfrm>
          <a:prstGeom prst="ellipse">
            <a:avLst/>
          </a:prstGeom>
          <a:solidFill>
            <a:srgbClr val="2A3554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95" y="27505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3200400"/>
            <a:ext cx="29260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779776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28575">
            <a:solidFill>
              <a:srgbClr val="F5B841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355848" y="2560320"/>
            <a:ext cx="731520" cy="731520"/>
          </a:xfrm>
          <a:prstGeom prst="ellipse">
            <a:avLst/>
          </a:prstGeom>
          <a:solidFill>
            <a:srgbClr val="F5B841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043" y="27505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71216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871216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81728" y="3200400"/>
            <a:ext cx="29260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4992624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15875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5568696" y="256032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891" y="275051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4064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084064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3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894576" y="3200400"/>
            <a:ext cx="29260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7205472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15875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7781544" y="256032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739" y="2750515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96912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296912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4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107424" y="3200400"/>
            <a:ext cx="29260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Shape 23"/>
          <p:cNvSpPr/>
          <p:nvPr/>
        </p:nvSpPr>
        <p:spPr>
          <a:xfrm>
            <a:off x="9418320" y="2286000"/>
            <a:ext cx="1883664" cy="1828800"/>
          </a:xfrm>
          <a:prstGeom prst="roundRect">
            <a:avLst>
              <a:gd name="adj" fmla="val 6000"/>
            </a:avLst>
          </a:prstGeom>
          <a:solidFill>
            <a:srgbClr val="19223B"/>
          </a:solidFill>
          <a:ln w="15875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4"/>
          <p:cNvSpPr/>
          <p:nvPr/>
        </p:nvSpPr>
        <p:spPr>
          <a:xfrm>
            <a:off x="9994392" y="256032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4587" y="2750515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09760" y="3364992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9509760" y="382219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5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779776" y="4434840"/>
            <a:ext cx="1883664" cy="420624"/>
          </a:xfrm>
          <a:prstGeom prst="roundRect">
            <a:avLst>
              <a:gd name="adj" fmla="val 21739"/>
            </a:avLst>
          </a:prstGeom>
          <a:solidFill>
            <a:srgbClr val="2A241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2779776" y="44348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human gate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states handled by the publisher, not the client:  publishing → posted / failed / blocked.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USER MANAGEMENT  (OWNER ONLY)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the team in, and control exactly who can do what.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F5B8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9697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0545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by email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672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sends an invite from the admin panel; pending invites are tracked and revocable.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712464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885" y="229697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712464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join the tenant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712464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teammate accepts and becomes a member of that organization, and only that one.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82512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6620256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677" y="229697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620256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role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620256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Owner or Member. Roles map to real permissions: who can manage topics, and who approves.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290304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9528048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469" y="2296973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2883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528048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 revoke anytime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9528048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Promote, demote, or remove access in one click. Synthetic dev-bypass users are blocked outright.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66928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Shape 26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080406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35608" y="4892040"/>
            <a:ext cx="10012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Owner-gated by the manage_users permission, blocked for dev-bypass identities, and isolated per tenant by row-level security: three independent gates on one screen.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TOPICS &amp; ANGLES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what to talk about, and how to keep it fresh.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topic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it, describe it, add hashtags, and set scope: a shared global topic or your own personal one.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content angles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topic a set of angles: the distinct takes the agent can write from.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or pin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auto-rotates angles to avoid repeating itself, or you pin a specific angle for a post.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draft a starter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where to begin? AI proposes a ready-to-edit topic to get you moving.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223760" y="1828800"/>
            <a:ext cx="4434840" cy="32461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7498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ANGLES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498080" y="2468880"/>
            <a:ext cx="3886200" cy="475488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7607808" y="2532888"/>
            <a:ext cx="347472" cy="347472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151" y="2623231"/>
            <a:ext cx="166787" cy="166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28432" y="24688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 take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498080" y="3072384"/>
            <a:ext cx="3886200" cy="47548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3"/>
          <p:cNvSpPr/>
          <p:nvPr/>
        </p:nvSpPr>
        <p:spPr>
          <a:xfrm>
            <a:off x="7626096" y="3218688"/>
            <a:ext cx="182880" cy="182880"/>
          </a:xfrm>
          <a:prstGeom prst="ellipse">
            <a:avLst/>
          </a:prstGeom>
          <a:solidFill>
            <a:srgbClr val="C7D2E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8028432" y="30723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trend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7498080" y="3675888"/>
            <a:ext cx="3886200" cy="47548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Shape 26"/>
          <p:cNvSpPr/>
          <p:nvPr/>
        </p:nvSpPr>
        <p:spPr>
          <a:xfrm>
            <a:off x="7626096" y="3822192"/>
            <a:ext cx="182880" cy="182880"/>
          </a:xfrm>
          <a:prstGeom prst="ellipse">
            <a:avLst/>
          </a:prstGeom>
          <a:solidFill>
            <a:srgbClr val="C7D2E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8028432" y="36758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how-to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7498080" y="4279392"/>
            <a:ext cx="3886200" cy="475488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29"/>
          <p:cNvSpPr/>
          <p:nvPr/>
        </p:nvSpPr>
        <p:spPr>
          <a:xfrm>
            <a:off x="7626096" y="4425696"/>
            <a:ext cx="182880" cy="182880"/>
          </a:xfrm>
          <a:prstGeom prst="ellipse">
            <a:avLst/>
          </a:prstGeom>
          <a:solidFill>
            <a:srgbClr val="C7D2E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8028432" y="42793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vs. reality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566928" y="52578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9" name="Shape 32"/>
          <p:cNvSpPr/>
          <p:nvPr/>
        </p:nvSpPr>
        <p:spPr>
          <a:xfrm>
            <a:off x="731520" y="5266944"/>
            <a:ext cx="548640" cy="548640"/>
          </a:xfrm>
          <a:prstGeom prst="ellipse">
            <a:avLst/>
          </a:prstGeom>
          <a:solidFill>
            <a:srgbClr val="8B7FE0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5409590"/>
            <a:ext cx="263347" cy="263347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435608" y="5257800"/>
            <a:ext cx="1001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are a closed set: arbitrary free text is rejected (fail-closed), so user input never flows into the prompt.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FEED DISCOVERY &amp; RESEARCH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the agent at the right sources, safely.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8B7F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feeds with AI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topic and the agent suggests relevant RSS/Atom feeds to pull from.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before added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URL is RSS-validated and SSRF-checked, so only safe, real feeds get in.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instruct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feeds by domain and set research instructions that steer what the agent looks for.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ingestion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engine keeps pulling and corroborating articles in the background.</a:t>
            </a:r>
            <a:endParaRPr lang="en-US" sz="13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15200" y="1783080"/>
            <a:ext cx="4343400" cy="3776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1: GENERATE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latest research into a draft in one click.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topic &amp; angle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to post about and which angle to write from, or let it auto-select.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from research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composes a LinkedIn post grounded in the most recent corroborated articles.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metrics, sourced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woven in with their source attached. An unsourced figure never ships.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model, your key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model that fits; each tenant brings its own AI key (BYOK).</a:t>
            </a:r>
            <a:endParaRPr lang="en-US" sz="13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15200" y="1783080"/>
            <a:ext cx="4343400" cy="3776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2: REFINE WITH AI &amp; EDIT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the draft until it sounds like you.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9697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0545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rewrite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672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it, reframe the hook, or shift the tone. The agent rewrites on request.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712464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885" y="229697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712464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directly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712464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the keyboard? Edit the post text inline and keep full control of the wording.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82512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6620256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677" y="229697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620256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freely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620256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rewrite, tweak. Loop as many times as it takes to get it right.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290304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9528048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469" y="2296973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2883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528048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traceable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9528048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requests are logged end-to-end, so what the model did is always auditable.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66928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Shape 26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080406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35608" y="4892040"/>
            <a:ext cx="10012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and Generate share the same disciplined pipeline: the exact request sent to the model is the exact request logged, so the trace can never lie about what shipped.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3: IMAGES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every post the right picture, fetched safely.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lead image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extracts the lead image straight from the source article.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OG fallback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 image? It falls back to the article’s Open-Graph preview image.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through a guarded proxy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load via an SSRF-guarded proxy: no server-side request forgery.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before it ships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post exactly as it will appear on the company page.</a:t>
            </a:r>
            <a:endParaRPr lang="en-US" sz="13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32320" y="1554480"/>
            <a:ext cx="4663440" cy="42062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4: DRAFT → PENDING APPROVAL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it, submit it, and route it for sign-off.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73252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252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0917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9697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0545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draft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4672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post is saved as a draft you can return to and keep editing.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712464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885" y="229697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712464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712464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it’s ready, send it to pending approval. It now awaits an owner.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82512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6620256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677" y="229697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620256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reviews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620256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approves it, or sends it back to draft with the change in one move.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290304" y="187452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9528048" y="2130552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469" y="2296973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2883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E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528048" y="28986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can’t be skipped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9528048" y="3319272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server-enforced: no client can fake an approval or jump the queue.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66928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Shape 26"/>
          <p:cNvSpPr/>
          <p:nvPr/>
        </p:nvSpPr>
        <p:spPr>
          <a:xfrm>
            <a:off x="731520" y="4928616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73152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1408176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submits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3310128" y="5212080"/>
            <a:ext cx="502920" cy="0"/>
          </a:xfrm>
          <a:prstGeom prst="line">
            <a:avLst/>
          </a:prstGeom>
          <a:noFill/>
          <a:ln w="31750">
            <a:solidFill>
              <a:srgbClr val="F5B841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30"/>
          <p:cNvSpPr/>
          <p:nvPr/>
        </p:nvSpPr>
        <p:spPr>
          <a:xfrm>
            <a:off x="3995928" y="4928616"/>
            <a:ext cx="566928" cy="566928"/>
          </a:xfrm>
          <a:prstGeom prst="ellipse">
            <a:avLst/>
          </a:prstGeom>
          <a:solidFill>
            <a:srgbClr val="F5B8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3995928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4672584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approves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7059168" y="4892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i="1" dirty="0">
                <a:solidFill>
                  <a:srgbClr val="9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a real hand-off between roles: the strategist proposes, the owner disposes.</a:t>
            </a:r>
            <a:endParaRPr lang="en-US" sz="1180" dirty="0"/>
          </a:p>
        </p:txBody>
      </p:sp>
      <p:sp>
        <p:nvSpPr>
          <p:cNvPr id="40" name="Text 3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5: SCHEDULE &amp; PUBLISH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it once: the agent posts it for you.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F5B8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 a time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an approved post on the calendar for the date and time you want it live.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98064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5497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743200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53312" y="2752344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schedule status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what’s queued, what’s gone out, and what needs attention at a glance.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76732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9242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712464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53312" y="3721608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 to your page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posts to your LinkedIn organization page: no manual step.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893503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4128" y="4681728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353312" y="4690872"/>
            <a:ext cx="5522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status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Posted, failed, and blocked are all tracked, so nothing silently disappears.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223760" y="1828800"/>
            <a:ext cx="4434840" cy="3703320"/>
          </a:xfrm>
          <a:prstGeom prst="roundRect">
            <a:avLst>
              <a:gd name="adj" fmla="val 2963"/>
            </a:avLst>
          </a:prstGeom>
          <a:solidFill>
            <a:srgbClr val="FBFCFE"/>
          </a:solidFill>
          <a:ln w="12700">
            <a:solidFill>
              <a:srgbClr val="E5EBF3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7498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498080" y="2487168"/>
            <a:ext cx="3886200" cy="603504"/>
          </a:xfrm>
          <a:prstGeom prst="roundRect">
            <a:avLst>
              <a:gd name="adj" fmla="val 15152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7680960" y="2706624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7973568" y="24871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· Tue 9:00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10058400" y="26334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10058400" y="26334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498080" y="3200400"/>
            <a:ext cx="3886200" cy="603504"/>
          </a:xfrm>
          <a:prstGeom prst="roundRect">
            <a:avLst>
              <a:gd name="adj" fmla="val 15152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5"/>
          <p:cNvSpPr/>
          <p:nvPr/>
        </p:nvSpPr>
        <p:spPr>
          <a:xfrm>
            <a:off x="7680960" y="3419856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973568" y="32004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· Mon 9:00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10058400" y="334670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10058400" y="33467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498080" y="3913632"/>
            <a:ext cx="3886200" cy="603504"/>
          </a:xfrm>
          <a:prstGeom prst="roundRect">
            <a:avLst>
              <a:gd name="adj" fmla="val 15152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30"/>
          <p:cNvSpPr/>
          <p:nvPr/>
        </p:nvSpPr>
        <p:spPr>
          <a:xfrm>
            <a:off x="7680960" y="4133088"/>
            <a:ext cx="164592" cy="164592"/>
          </a:xfrm>
          <a:prstGeom prst="ellipse">
            <a:avLst/>
          </a:prstGeom>
          <a:solidFill>
            <a:srgbClr val="F5B84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7973568" y="391363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0058400" y="405993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8E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10058400" y="40599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5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498080" y="4626864"/>
            <a:ext cx="3886200" cy="603504"/>
          </a:xfrm>
          <a:prstGeom prst="roundRect">
            <a:avLst>
              <a:gd name="adj" fmla="val 15152"/>
            </a:avLst>
          </a:prstGeom>
          <a:solidFill>
            <a:srgbClr val="F4F7FB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Shape 35"/>
          <p:cNvSpPr/>
          <p:nvPr/>
        </p:nvSpPr>
        <p:spPr>
          <a:xfrm>
            <a:off x="7680960" y="4846320"/>
            <a:ext cx="164592" cy="164592"/>
          </a:xfrm>
          <a:prstGeom prst="ellipse">
            <a:avLst/>
          </a:prstGeom>
          <a:solidFill>
            <a:srgbClr val="C260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7973568" y="46268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· retry queued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10058400" y="477316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BEDE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10058400" y="4773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04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9616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REWRITE WITH AI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 a draft without starting over.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53312" y="178308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no prompt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Rewrite with AI and it reuses the post’s own topic, angle, and the research it was built 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27432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00111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24128" y="26883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353312" y="269748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Polishes, never fabricates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refine pass tightens and reframes the existing copy. It is metric-free, so it cannot invent a new number.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36576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81451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6027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353312" y="361188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draft for sign-off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a post that was awaiting approval drops it back to draft, so a changed post is always re-approved.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66928" y="45720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72891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45171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353312" y="4526280"/>
            <a:ext cx="5340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and traceable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 the edit_post permission, and every rewrite is logged exactly like a generation.</a:t>
            </a:r>
            <a:endParaRPr lang="en-US" sz="13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52360" y="1737360"/>
            <a:ext cx="4069080" cy="41605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66928" y="5532120"/>
            <a:ext cx="6080760" cy="566928"/>
          </a:xfrm>
          <a:prstGeom prst="roundRect">
            <a:avLst>
              <a:gd name="adj" fmla="val 12903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731520" y="5541264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83910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35608" y="55321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runs the same audited pipeline as Generate, on a separate metric-free prompt, so a polished draft stays as accountable as the original.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  <p:sp>
        <p:nvSpPr>
          <p:cNvPr id="31" name="5-Point Star 30">
            <a:extLst>
              <a:ext uri="{FF2B5EF4-FFF2-40B4-BE49-F238E27FC236}">
                <a16:creationId xmlns:a16="http://schemas.microsoft.com/office/drawing/2014/main" id="{CB3006B7-DFBE-97F0-725D-46680B4FC597}"/>
              </a:ext>
            </a:extLst>
          </p:cNvPr>
          <p:cNvSpPr/>
          <p:nvPr/>
        </p:nvSpPr>
        <p:spPr>
          <a:xfrm>
            <a:off x="370608" y="177039"/>
            <a:ext cx="467115" cy="363558"/>
          </a:xfrm>
          <a:prstGeom prst="star5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821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9616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· PUBLISHING ON A FUTURE DATE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it today. It posts itself next Tuesday.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F5B8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1985711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7739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53312" y="1783080"/>
            <a:ext cx="5248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ready post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post that has cleared approval and is ready to go out.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27432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2900111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24128" y="26883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353312" y="2697480"/>
            <a:ext cx="5248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future date &amp; time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Scheduled and set when it should publish. The system rejects any time that isn’t in the future.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36576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381451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6027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353312" y="3611880"/>
            <a:ext cx="5248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joins the queue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 shows a Scheduled status with your chosen time and stays editable right up until it fires.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66928" y="457200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9" y="472891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4517136"/>
            <a:ext cx="310896" cy="310896"/>
          </a:xfrm>
          <a:prstGeom prst="rect">
            <a:avLst/>
          </a:prstGeom>
          <a:solidFill>
            <a:srgbClr val="19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353312" y="4526280"/>
            <a:ext cx="5248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posts itself
</a:t>
            </a:r>
            <a:r>
              <a:rPr lang="en-US" sz="11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that moment the scheduler publishes to your LinkedIn org page: posted, or failed / blocked, all tracked.</a:t>
            </a:r>
            <a:endParaRPr lang="en-US" sz="13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78040" y="1783080"/>
            <a:ext cx="4434840" cy="408736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66928" y="5504688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E7FB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35608" y="55046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spacing rule keeps scheduled posts from bunching, separate from the always-on engine that paces autonomous posts (roughly 4 per 10 days, 72h apart).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  <p:sp>
        <p:nvSpPr>
          <p:cNvPr id="31" name="5-Point Star 30">
            <a:extLst>
              <a:ext uri="{FF2B5EF4-FFF2-40B4-BE49-F238E27FC236}">
                <a16:creationId xmlns:a16="http://schemas.microsoft.com/office/drawing/2014/main" id="{A3496873-CDF6-0FFC-F373-1B0C62920DBE}"/>
              </a:ext>
            </a:extLst>
          </p:cNvPr>
          <p:cNvSpPr/>
          <p:nvPr/>
        </p:nvSpPr>
        <p:spPr>
          <a:xfrm>
            <a:off x="370608" y="177039"/>
            <a:ext cx="467115" cy="363558"/>
          </a:xfrm>
          <a:prstGeom prst="star5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84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9616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RESEARCH INSTRUCTIONS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the agent what counts as a good source.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869680" y="548640"/>
            <a:ext cx="566928" cy="566928"/>
          </a:xfrm>
          <a:prstGeom prst="ellipse">
            <a:avLst/>
          </a:prstGeom>
          <a:solidFill>
            <a:srgbClr val="8B7FE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696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46336" y="5120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
</a:t>
            </a:r>
            <a:r>
              <a:rPr lang="en-US" sz="10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5910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instructions are a few search templates on each topic. They steer what the agent looks for, instead of letting it guess from the topic name.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2F4F8"/>
          </a:solidFill>
          <a:ln w="12700">
            <a:solidFill>
              <a:srgbClr val="E5EB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04672" y="2414016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1E6E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4672" y="24140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9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EMPTY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9443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derives generic queries from the topic name: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32841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 cybersecurity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 cybersecurity trends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" y="405993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69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  </a:t>
            </a:r>
            <a:r>
              <a:rPr lang="en-US" sz="1200" i="1" dirty="0">
                <a:solidFill>
                  <a:srgbClr val="7E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explainers and vendor hype: a vague post with no hard evidence.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219456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E9FBF6"/>
          </a:solidFill>
          <a:ln w="22225">
            <a:solidFill>
              <a:srgbClr val="14B8A6"/>
            </a:solidFill>
            <a:prstDash val="solid"/>
          </a:ln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19672" y="2414016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19672" y="24140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RESEARCH INSTRUCTIONS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9672" y="29443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templates that target citable material: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9672" y="3328416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B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{{TOPIC_NAME}} breach incident report {{YEAR_RANGE}}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B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security {{KEYWORDS}} enforcement action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B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{{ANGLE}} case study results survey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19672" y="42611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  </a:t>
            </a:r>
            <a:r>
              <a:rPr lang="en-US" sz="1200" i="1" dirty="0">
                <a:solidFill>
                  <a:srgbClr val="1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reports, enforcement actions, and studies with numbers: a specific, sourced post.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75504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31520" y="5202936"/>
            <a:ext cx="548640" cy="548640"/>
          </a:xfrm>
          <a:prstGeom prst="ellipse">
            <a:avLst/>
          </a:prstGeom>
          <a:solidFill>
            <a:srgbClr val="8B7FE0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345582"/>
            <a:ext cx="263347" cy="26334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35608" y="5175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five templates, four placeholders: {{TOPIC_NAME}} {{ANGLE}} {{KEYWORDS}} {{YEAR_RANGE}}. The AI drafts them; you review and save. Sharper sourcing means stronger metrics and fewer rejected drafts.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C4419AA7-49E8-399C-F028-698210B1B1EE}"/>
              </a:ext>
            </a:extLst>
          </p:cNvPr>
          <p:cNvSpPr/>
          <p:nvPr/>
        </p:nvSpPr>
        <p:spPr>
          <a:xfrm>
            <a:off x="370608" y="177039"/>
            <a:ext cx="467115" cy="363558"/>
          </a:xfrm>
          <a:prstGeom prst="star5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80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6: THE WHOLE THING, ON ITS 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loop that runs continuously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never stops, so neither does the pipeline, with human approval as the one deliberate pause.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2423160"/>
            <a:ext cx="3566160" cy="3566160"/>
          </a:xfrm>
          <a:prstGeom prst="ellipse">
            <a:avLst/>
          </a:prstGeom>
          <a:solidFill>
            <a:srgbClr val="111726"/>
          </a:solidFill>
          <a:ln w="1905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46120" y="201168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090" y="22256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34640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41930" y="3243758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899" y="3457728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0450" y="407586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4188" y="5237302"/>
            <a:ext cx="822960" cy="822960"/>
          </a:xfrm>
          <a:prstGeom prst="ellipse">
            <a:avLst/>
          </a:prstGeom>
          <a:solidFill>
            <a:srgbClr val="F5B841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158" y="5451272"/>
            <a:ext cx="395021" cy="3950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82708" y="606940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198052" y="5237302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2021" y="5451272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86572" y="606940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550310" y="3243758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4280" y="3457728"/>
            <a:ext cx="395021" cy="3950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38830" y="407586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3913632"/>
            <a:ext cx="585216" cy="58521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040880" y="2240280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2359152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680960" y="218541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throughput
</a:t>
            </a:r>
            <a:r>
              <a:rPr lang="en-US" sz="11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keep flowing without anyone babysitting the tool.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7040880" y="3209544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3328416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680960" y="31546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
</a:t>
            </a:r>
            <a:r>
              <a:rPr lang="en-US" sz="11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reflects the newest corroborated research, not last month’s.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7040880" y="4178808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4297680"/>
            <a:ext cx="219456" cy="21945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680960" y="412394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 checkpoint
</a:t>
            </a:r>
            <a:r>
              <a:rPr lang="en-US" sz="11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owner’s approval is the only gate: deliberate, not bureaucratic.</a:t>
            </a:r>
            <a:endParaRPr lang="en-US" sz="1400" dirty="0"/>
          </a:p>
        </p:txBody>
      </p:sp>
      <p:sp>
        <p:nvSpPr>
          <p:cNvPr id="31" name="Shape 20"/>
          <p:cNvSpPr/>
          <p:nvPr/>
        </p:nvSpPr>
        <p:spPr>
          <a:xfrm>
            <a:off x="7040880" y="5148072"/>
            <a:ext cx="457200" cy="457200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5266944"/>
            <a:ext cx="219456" cy="21945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680960" y="50932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slips
</a:t>
            </a:r>
            <a:r>
              <a:rPr lang="en-US" sz="11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or blocked posts surface immediately with their status.</a:t>
            </a:r>
            <a:endParaRPr lang="en-US" sz="1400" dirty="0"/>
          </a:p>
        </p:txBody>
      </p:sp>
      <p:sp>
        <p:nvSpPr>
          <p:cNvPr id="3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EARNS TRUST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the product, not a feature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from the database to the UI: the moat for selling AI publishing to serious organizations.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6384" y="240487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85" y="255227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2350008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multi-tenancy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isolates every tenant’s data, enforced in the database, not just the app.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25696" y="2148840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45152" y="240487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553" y="25522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8384" y="2350008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BYOK keys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organization brings its own AI key; keys are encrypted and never logged.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84464" y="2148840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503920" y="240487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21" y="255227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17152" y="2350008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prompt vault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secrets sealed with AES-256-GCM + HKDF at rest.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66928" y="3922776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786384" y="4178808"/>
            <a:ext cx="566928" cy="566928"/>
          </a:xfrm>
          <a:prstGeom prst="ellipse">
            <a:avLst/>
          </a:prstGeom>
          <a:solidFill>
            <a:srgbClr val="F5B841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85" y="4326209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99616" y="4123944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 reaches a public page without an owner’s sign-off, server-enforced.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425696" y="3922776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4645152" y="4178808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553" y="4326209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58384" y="4123944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SSRF-guarded fetches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discovery and image fetches are validated against server-side request forgery.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84464" y="3922776"/>
            <a:ext cx="3529584" cy="1481328"/>
          </a:xfrm>
          <a:prstGeom prst="roundRect">
            <a:avLst>
              <a:gd name="adj" fmla="val 6173"/>
            </a:avLst>
          </a:prstGeom>
          <a:solidFill>
            <a:srgbClr val="19223B"/>
          </a:solidFill>
          <a:ln w="12700">
            <a:solidFill>
              <a:srgbClr val="33406A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8503920" y="4178808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blurRad="114300" dist="38100" dir="5400000" algn="bl" rotWithShape="0">
              <a:srgbClr val="8595B5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1321" y="4326209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17152" y="4123944"/>
            <a:ext cx="24323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traceability
</a:t>
            </a:r>
            <a:r>
              <a:rPr lang="en-US" sz="108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request is logged exactly as sent, so output is always auditable.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majiklTrust · Market Intelligence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463040"/>
            <a:ext cx="4754880" cy="4754880"/>
          </a:xfrm>
          <a:prstGeom prst="ellipse">
            <a:avLst/>
          </a:prstGeom>
          <a:solidFill>
            <a:srgbClr val="19223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875520" y="3474720"/>
            <a:ext cx="3291840" cy="3291840"/>
          </a:xfrm>
          <a:prstGeom prst="ellipse">
            <a:avLst/>
          </a:prstGeom>
          <a:solidFill>
            <a:srgbClr val="14213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</a:t>
            </a:r>
            <a:endParaRPr lang="en-US" sz="4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posts itself, safely.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AI agent that researches, drafts, and publishes on-brand LinkedIn content for every organization on the platform, with the owner always in command.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66928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corroborated sources 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70248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70248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before publish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73568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73568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isolated by 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8978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6928" y="5897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alpha.majikl.com</a:t>
            </a:r>
            <a:endParaRPr lang="en-US" sz="1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1EB90CB-8B73-2D31-09DD-03E4F584078F}"/>
              </a:ext>
            </a:extLst>
          </p:cNvPr>
          <p:cNvSpPr/>
          <p:nvPr/>
        </p:nvSpPr>
        <p:spPr>
          <a:xfrm>
            <a:off x="566928" y="403860"/>
            <a:ext cx="5808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25, 2026,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_ India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1DB61-C57D-9FDC-57FE-7DAAB8C59A05}"/>
              </a:ext>
            </a:extLst>
          </p:cNvPr>
          <p:cNvSpPr txBox="1"/>
          <p:nvPr/>
        </p:nvSpPr>
        <p:spPr>
          <a:xfrm>
            <a:off x="3416808" y="462673"/>
            <a:ext cx="295847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hlinkClick r:id="rId3"/>
              </a:rPr>
              <a:t>brandon@majikl.com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2242</Words>
  <Application>Microsoft Macintosh PowerPoint</Application>
  <PresentationFormat>Widescreen</PresentationFormat>
  <Paragraphs>293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majikl LinkedIn AI Content Agent. Investor Overview</dc:title>
  <dc:subject/>
  <dc:creator>majiklTrust Market Intelligence</dc:creator>
  <cp:keywords/>
  <dc:description/>
  <cp:lastModifiedBy>Brandon R. India</cp:lastModifiedBy>
  <cp:revision>19</cp:revision>
  <dcterms:created xsi:type="dcterms:W3CDTF">2026-06-25T15:06:40Z</dcterms:created>
  <dcterms:modified xsi:type="dcterms:W3CDTF">2026-07-16T11:36:52Z</dcterms:modified>
  <cp:category/>
</cp:coreProperties>
</file>