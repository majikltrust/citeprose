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82332"/>
  </p:normalViewPr>
  <p:slideViewPr>
    <p:cSldViewPr snapToGrid="0" snapToObjects="1">
      <p:cViewPr varScale="1">
        <p:scale>
          <a:sx n="94" d="100"/>
          <a:sy n="94" d="100"/>
        </p:scale>
        <p:origin x="10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705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and thank you for your time. Over the next twenty minutes I am going to show you our product the way a customer sees it. Not an architecture diagram, and not a roadmap. The actual screens, the actual clicks, and the market evidence that each of those clicks moves a number this company is paid to move. Everything in this deck is running in production today at www.majikl.com, and every screenshot frame you will see was captured, or will be captured, from that live application.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set the frame for how to watch this. Software creates shareholder value only when customers can operate it without us in the room, so today I am not reporting features. I am reporting value streams: end-to-end processes a customer completes on screen, each one ending in a work product that moves a KPI. The language and the stream numbers you will hear come straight from our value stream analysis, so everything reconciles with the document you already have. Three ground rules. First, everything is a live screen. Second, every section opens with the business question it exists to answer. Third, every market number on these slides is third-party research, cited where it appears. And one ask: as each screen comes up, judge it against the question at the top of the section. If the screen does not answer the question, I want to hear that today, not next quarter.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route, and I will keep us to time. Two minutes of framing, then four sections. Section one is the heart of the product: how content gets produced and researched without a writing staff. Section two is visual content, the cheapest engagement lever we ship. Section three is measurement and then advocacy, which is where reach multiplies. Section four is the business controls: capacity, cost, and continuity. We finish with the takeaway slide, which you can lift directly into the board pack. Feel free to interrupt anywhere; the deck is built to absorb questions at every stop.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of structure before the screens. The product's value streams group into seven domains, A through G, and this briefing walks them in four sections. Each section is defined by the question on this slide, and I will read that question aloud as we enter each one, because it is the test the screens have to pass. Section one covers two domains at once, content production and research, because in this product they are one motion: the research is why the content is credible. Section three pairs analytics with advocacy for the same reason: you amplify what you have measured. Hold this map; everything from here is a live screen.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and I will read its question: how do we publish credible content constantly without a writing staff, and know what to say first? It starts here, with the screen a customer sees on day one. They type a topic they want to own. The platform immediately proposes ten content angles. One more click and it discovers the industry feeds worth trusting, and here is the detail I want you to hold: every feed is validated and graded before the customer accepts it. Bad sources never get in, so bad drafts never come out. From that moment the research monitor fills on its own schedule and refreshes on demand. The market stat on the right is why this matters commercially: businesses that post weekly on LinkedIn see twice the engagement of inconsistent publishers, and consistency is precisely what an always-on engine guarantees. No writer was hired on this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other half of section one: what happens between research and a published post. Every draft is born already researched. Sources are read live, claims are corroborated across independent outlets, and verified figures are inserted mechanically, which means the AI never types a number itself. If no credible source can be attached, the draft simply does not exist; the system refuses rather than invents. The customer's experience is a review queue: edit, one-click rewrite, approve, or schedule to the minute. Nothing publishes without that human click, and the same pipeline serves the company page and personal executive profiles. Eighty-four percent of B2B marketers call LinkedIn their best-value platform; this lifecycle is how we feed that channel one defensible post at a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how do we raise engagement per post without a design team? The answer lives inside the post editor. When a customer opens the image gallery, free imagery harvested from the source articles is already waiting, cost zero. One tab over is the studio: it paints a custom image from that post's own research, in the company's palette, and every render prices itself against a budget the owner set. Past the cap, it refuses; there is no surprise invoice. The number on the right is the whole argument: posts with images earn ninety-eight percent more comments on LinkedIn, and video earns five times static engagement, so imagery is the floor, not the ceiling. This is the cheapest engagement lever we ship, and it is one click wide.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opens with measurement, because you cannot multiply what you have not measured. This is the analytics page after a sync: real per-post results, topic rollups, follower demographics, and a day-by-hour heatmap of when this audience actually engages. Two things distinguish it. First, honesty: a value the platform has not retrieved says so on screen; it is never dressed up as a zero. Second, the one-click narrative: an executive summary in which every quantitative sentence carries a citation back to the data, or the narrative refuses to render at all. Fabrication is structurally impossible, which is why these numbers can be repeated in this room without a caveat. The platform average engagement rate is three point eight percent; this page exists to beat that benchmark with evidence.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multiplier. A company page's reach is capped by its followers. Its people are not. On this screen, one click fans a published company post into personal variants, one per consenting employee, each written in that person's voice from notes they provided themselves. Every member approves or declines their own version, and publishing always uses their identity, never the brand's. Consent is not a checkbox here, it is the architecture: employees enroll themselves, can leave cleanly, and anything unpublished dies with their departure. The market math is the strongest in social: employee-shared content earns eight times the engagement of brand-shared content, employee networks average ten times the page's followers, and advocacy-sourced leads convert seven times more often. This is reach we do not pay for.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how do we scale output while controlling spend and risk? This is the admin page, and I want you to notice it is one page. Team scaling is invitations under strict roles: editors produce, viewers observe, owners govern, and nobody can exceed their role. The AI relationship belongs to the customer: they choose the vendor, and a key is validated against that vendor before it is ever stored, so a broken credential can never burn a cent. Spend is a thirty-day ledger by provider, and image budgets refuse past their cap. Continuity runs itself: publishing tokens renew on their own, and when something does need a human, it says so loudly instead of failing silently. The closing stat: personal profiles out-engage company pages by sixty-three percent, and this is the page that lets one owner govern both surfaces with zero added headcount.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land this. Four questions, four working answers, and every one of them demonstrated on a production screen rather than promised on a roadmap. We publish constantly without a writing staff, because topics go in and approved posts come out. We raise engagement without a design team, because imagery is one click and ninety-eight percent more comments. We multiply reach through our own people, ethically, at eight times the engagement and zero media spend. And we scale all of it with roles, validated keys, and budget caps, so growth cannot outrun governance. That is the investment thesis in one sentence: this product is operable by its customers, and every operable screen you saw moves a number this business is valued on. I will leave the value stream analysis and this deck with you; thank you, and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randon@majik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2F"/>
        </a:solidFill>
        <a:effectLst/>
      </p:bgPr>
    </p:bg>
    <p:spTree>
      <p:nvGrpSpPr>
        <p:cNvPr id="1" name=""/>
        <p:cNvGrpSpPr/>
        <p:nvPr/>
      </p:nvGrpSpPr>
      <p:grpSpPr>
        <a:xfrm>
          <a:off x="0" y="0"/>
          <a:ext cx="0" cy="0"/>
          <a:chOff x="0" y="0"/>
          <a:chExt cx="0" cy="0"/>
        </a:xfrm>
      </p:grpSpPr>
      <p:sp>
        <p:nvSpPr>
          <p:cNvPr id="2" name="Shape 0"/>
          <p:cNvSpPr/>
          <p:nvPr/>
        </p:nvSpPr>
        <p:spPr>
          <a:xfrm>
            <a:off x="7863840" y="-822960"/>
            <a:ext cx="4937760" cy="4937760"/>
          </a:xfrm>
          <a:prstGeom prst="ellipse">
            <a:avLst/>
          </a:prstGeom>
          <a:ln w="15240">
            <a:solidFill>
              <a:srgbClr val="16304C">
                <a:alpha val="60000"/>
              </a:srgbClr>
            </a:solidFill>
            <a:prstDash val="solid"/>
          </a:ln>
        </p:spPr>
        <p:txBody>
          <a:bodyPr/>
          <a:lstStyle/>
          <a:p>
            <a:endParaRPr lang="en-US"/>
          </a:p>
        </p:txBody>
      </p:sp>
      <p:sp>
        <p:nvSpPr>
          <p:cNvPr id="3" name="Shape 1"/>
          <p:cNvSpPr/>
          <p:nvPr/>
        </p:nvSpPr>
        <p:spPr>
          <a:xfrm>
            <a:off x="8503920" y="-182880"/>
            <a:ext cx="3657600" cy="3657600"/>
          </a:xfrm>
          <a:prstGeom prst="ellipse">
            <a:avLst/>
          </a:prstGeom>
          <a:ln w="15240">
            <a:solidFill>
              <a:srgbClr val="1C7293">
                <a:alpha val="60000"/>
              </a:srgbClr>
            </a:solidFill>
            <a:prstDash val="solid"/>
          </a:ln>
        </p:spPr>
        <p:txBody>
          <a:bodyPr/>
          <a:lstStyle/>
          <a:p>
            <a:endParaRPr lang="en-US"/>
          </a:p>
        </p:txBody>
      </p:sp>
      <p:sp>
        <p:nvSpPr>
          <p:cNvPr id="4" name="Shape 2"/>
          <p:cNvSpPr/>
          <p:nvPr/>
        </p:nvSpPr>
        <p:spPr>
          <a:xfrm>
            <a:off x="9144000" y="457200"/>
            <a:ext cx="2377440" cy="2377440"/>
          </a:xfrm>
          <a:prstGeom prst="ellipse">
            <a:avLst/>
          </a:prstGeom>
          <a:ln w="15240">
            <a:solidFill>
              <a:srgbClr val="16304C">
                <a:alpha val="60000"/>
              </a:srgbClr>
            </a:solidFill>
            <a:prstDash val="solid"/>
          </a:ln>
        </p:spPr>
        <p:txBody>
          <a:bodyPr/>
          <a:lstStyle/>
          <a:p>
            <a:endParaRPr lang="en-US"/>
          </a:p>
        </p:txBody>
      </p:sp>
      <p:sp>
        <p:nvSpPr>
          <p:cNvPr id="5" name="Shape 3"/>
          <p:cNvSpPr/>
          <p:nvPr/>
        </p:nvSpPr>
        <p:spPr>
          <a:xfrm>
            <a:off x="10113264" y="1426464"/>
            <a:ext cx="438912" cy="438912"/>
          </a:xfrm>
          <a:prstGeom prst="ellipse">
            <a:avLst/>
          </a:prstGeom>
          <a:solidFill>
            <a:srgbClr val="E1A029"/>
          </a:solidFill>
          <a:ln/>
        </p:spPr>
        <p:txBody>
          <a:bodyPr/>
          <a:lstStyle/>
          <a:p>
            <a:endParaRPr lang="en-US"/>
          </a:p>
        </p:txBody>
      </p:sp>
      <p:sp>
        <p:nvSpPr>
          <p:cNvPr id="6" name="Text 4"/>
          <p:cNvSpPr/>
          <p:nvPr/>
        </p:nvSpPr>
        <p:spPr>
          <a:xfrm>
            <a:off x="640080" y="1828800"/>
            <a:ext cx="8229600" cy="365760"/>
          </a:xfrm>
          <a:prstGeom prst="rect">
            <a:avLst/>
          </a:prstGeom>
          <a:noFill/>
          <a:ln/>
        </p:spPr>
        <p:txBody>
          <a:bodyPr wrap="square" rtlCol="0" anchor="ctr"/>
          <a:lstStyle/>
          <a:p>
            <a:pPr marL="0" indent="0">
              <a:buNone/>
            </a:pPr>
            <a:r>
              <a:rPr lang="en-US" sz="1400" b="1" kern="0" spc="150" dirty="0">
                <a:solidFill>
                  <a:srgbClr val="E1A029"/>
                </a:solidFill>
                <a:latin typeface="Calibri" pitchFamily="34" charset="0"/>
                <a:ea typeface="Calibri" pitchFamily="34" charset="-122"/>
                <a:cs typeface="Calibri" pitchFamily="34" charset="-120"/>
              </a:rPr>
              <a:t>Shareholder Briefing  |  Product Usability</a:t>
            </a:r>
            <a:endParaRPr lang="en-US" sz="1400" dirty="0"/>
          </a:p>
        </p:txBody>
      </p:sp>
      <p:sp>
        <p:nvSpPr>
          <p:cNvPr id="7" name="Text 5"/>
          <p:cNvSpPr/>
          <p:nvPr/>
        </p:nvSpPr>
        <p:spPr>
          <a:xfrm>
            <a:off x="603504" y="2240280"/>
            <a:ext cx="10972800" cy="1691640"/>
          </a:xfrm>
          <a:prstGeom prst="rect">
            <a:avLst/>
          </a:prstGeom>
          <a:noFill/>
          <a:ln/>
        </p:spPr>
        <p:txBody>
          <a:bodyPr wrap="square" rtlCol="0" anchor="ctr"/>
          <a:lstStyle/>
          <a:p>
            <a:pPr marL="0" indent="0">
              <a:lnSpc>
                <a:spcPct val="98000"/>
              </a:lnSpc>
              <a:buNone/>
            </a:pPr>
            <a:r>
              <a:rPr lang="en-US" sz="4200" b="1" dirty="0">
                <a:solidFill>
                  <a:srgbClr val="FFFFFF"/>
                </a:solidFill>
                <a:latin typeface="Cambria" pitchFamily="34" charset="0"/>
                <a:ea typeface="Cambria" pitchFamily="34" charset="-122"/>
                <a:cs typeface="Cambria" pitchFamily="34" charset="-120"/>
              </a:rPr>
              <a:t>Four Working Value Engines,</a:t>
            </a:r>
            <a:endParaRPr lang="en-US" sz="4200" dirty="0"/>
          </a:p>
          <a:p>
            <a:pPr marL="0" indent="0">
              <a:lnSpc>
                <a:spcPct val="98000"/>
              </a:lnSpc>
              <a:buNone/>
            </a:pPr>
            <a:r>
              <a:rPr lang="en-US" sz="4200" b="1" dirty="0">
                <a:solidFill>
                  <a:srgbClr val="FFFFFF"/>
                </a:solidFill>
                <a:latin typeface="Cambria" pitchFamily="34" charset="0"/>
                <a:ea typeface="Cambria" pitchFamily="34" charset="-122"/>
                <a:cs typeface="Cambria" pitchFamily="34" charset="-120"/>
              </a:rPr>
              <a:t>Seen From The User's Chair</a:t>
            </a:r>
            <a:endParaRPr lang="en-US" sz="4200" dirty="0"/>
          </a:p>
        </p:txBody>
      </p:sp>
      <p:sp>
        <p:nvSpPr>
          <p:cNvPr id="8" name="Text 6"/>
          <p:cNvSpPr/>
          <p:nvPr/>
        </p:nvSpPr>
        <p:spPr>
          <a:xfrm>
            <a:off x="640080" y="4023360"/>
            <a:ext cx="9692640" cy="822960"/>
          </a:xfrm>
          <a:prstGeom prst="rect">
            <a:avLst/>
          </a:prstGeom>
          <a:noFill/>
          <a:ln/>
        </p:spPr>
        <p:txBody>
          <a:bodyPr wrap="square" rtlCol="0" anchor="ctr"/>
          <a:lstStyle/>
          <a:p>
            <a:pPr marL="0" indent="0">
              <a:buNone/>
            </a:pPr>
            <a:r>
              <a:rPr lang="en-US" sz="1450" dirty="0">
                <a:solidFill>
                  <a:srgbClr val="CADCFC"/>
                </a:solidFill>
                <a:latin typeface="Calibri" pitchFamily="34" charset="0"/>
                <a:ea typeface="Calibri" pitchFamily="34" charset="-122"/>
                <a:cs typeface="Calibri" pitchFamily="34" charset="-120"/>
              </a:rPr>
              <a:t>A walk through the functional value streams of Market Intelligence as customers actually operate them: what they click, what they get, and the market evidence that each capability moves numbers a business cares about.</a:t>
            </a:r>
            <a:endParaRPr lang="en-US" sz="1450" dirty="0"/>
          </a:p>
        </p:txBody>
      </p:sp>
      <p:sp>
        <p:nvSpPr>
          <p:cNvPr id="9" name="Text 7"/>
          <p:cNvSpPr/>
          <p:nvPr/>
        </p:nvSpPr>
        <p:spPr>
          <a:xfrm>
            <a:off x="640080" y="5120640"/>
            <a:ext cx="10058400" cy="365760"/>
          </a:xfrm>
          <a:prstGeom prst="rect">
            <a:avLst/>
          </a:prstGeom>
          <a:noFill/>
          <a:ln/>
        </p:spPr>
        <p:txBody>
          <a:bodyPr wrap="square" rtlCol="0" anchor="ctr"/>
          <a:lstStyle/>
          <a:p>
            <a:pPr marL="0" indent="0">
              <a:buNone/>
            </a:pPr>
            <a:r>
              <a:rPr lang="en-US" sz="1100" dirty="0">
                <a:solidFill>
                  <a:srgbClr val="9AA7B6"/>
                </a:solidFill>
                <a:latin typeface="Courier New" pitchFamily="34" charset="0"/>
                <a:ea typeface="Courier New" pitchFamily="34" charset="-122"/>
                <a:cs typeface="Courier New" pitchFamily="34" charset="-120"/>
              </a:rPr>
              <a:t>Production application  |  www.majikl.com  |  Screenshot placeholders ready for live captures</a:t>
            </a:r>
            <a:endParaRPr lang="en-US" sz="1100" dirty="0"/>
          </a:p>
        </p:txBody>
      </p:sp>
      <p:sp>
        <p:nvSpPr>
          <p:cNvPr id="10" name="Text 4">
            <a:extLst>
              <a:ext uri="{FF2B5EF4-FFF2-40B4-BE49-F238E27FC236}">
                <a16:creationId xmlns:a16="http://schemas.microsoft.com/office/drawing/2014/main" id="{C6DA9D54-9D92-9FBA-423B-87B84BA7BEDE}"/>
              </a:ext>
            </a:extLst>
          </p:cNvPr>
          <p:cNvSpPr/>
          <p:nvPr/>
        </p:nvSpPr>
        <p:spPr>
          <a:xfrm>
            <a:off x="566928" y="403860"/>
            <a:ext cx="7751684" cy="421836"/>
          </a:xfrm>
          <a:prstGeom prst="rect">
            <a:avLst/>
          </a:prstGeom>
          <a:noFill/>
          <a:ln/>
        </p:spPr>
        <p:txBody>
          <a:bodyPr wrap="square" lIns="0" tIns="0" rIns="0" bIns="0" rtlCol="0" anchor="ctr"/>
          <a:lstStyle/>
          <a:p>
            <a:pPr>
              <a:lnSpc>
                <a:spcPct val="112000"/>
              </a:lnSpc>
            </a:pPr>
            <a:r>
              <a:rPr lang="en-US" sz="1600" dirty="0">
                <a:solidFill>
                  <a:schemeClr val="bg1"/>
                </a:solidFill>
                <a:latin typeface="Calibri" pitchFamily="34" charset="0"/>
                <a:ea typeface="Calibri" pitchFamily="34" charset="-122"/>
                <a:cs typeface="Calibri" pitchFamily="34" charset="-120"/>
              </a:rPr>
              <a:t>August 9, 2026</a:t>
            </a:r>
            <a:r>
              <a:rPr lang="en-US" dirty="0">
                <a:solidFill>
                  <a:schemeClr val="bg1"/>
                </a:solidFill>
              </a:rPr>
              <a:t>  •  </a:t>
            </a:r>
            <a:r>
              <a:rPr lang="en-US" sz="1600" dirty="0">
                <a:solidFill>
                  <a:schemeClr val="bg1"/>
                </a:solidFill>
                <a:latin typeface="Calibri" pitchFamily="34" charset="0"/>
                <a:ea typeface="Calibri" pitchFamily="34" charset="-122"/>
                <a:cs typeface="Calibri" pitchFamily="34" charset="-120"/>
              </a:rPr>
              <a:t>Brandon _ India</a:t>
            </a:r>
            <a:r>
              <a:rPr lang="en-US" dirty="0">
                <a:solidFill>
                  <a:schemeClr val="bg1"/>
                </a:solidFill>
              </a:rPr>
              <a:t>  •  </a:t>
            </a:r>
            <a:r>
              <a:rPr lang="en-US" sz="1600" b="1" dirty="0">
                <a:solidFill>
                  <a:srgbClr val="FFFFFF"/>
                </a:solidFill>
                <a:latin typeface="Cambria" pitchFamily="34" charset="0"/>
                <a:hlinkClick r:id="rId3"/>
              </a:rPr>
              <a:t>brandon@majikl.com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50" dirty="0">
                <a:solidFill>
                  <a:srgbClr val="1C7293"/>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15568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Why Usability Is What We Are Reporting</a:t>
            </a:r>
            <a:endParaRPr lang="en-US" sz="2700" dirty="0"/>
          </a:p>
        </p:txBody>
      </p:sp>
      <p:sp>
        <p:nvSpPr>
          <p:cNvPr id="4" name="Text 2"/>
          <p:cNvSpPr/>
          <p:nvPr/>
        </p:nvSpPr>
        <p:spPr>
          <a:xfrm>
            <a:off x="566928" y="1371600"/>
            <a:ext cx="11064240" cy="1143000"/>
          </a:xfrm>
          <a:prstGeom prst="rect">
            <a:avLst/>
          </a:prstGeom>
          <a:noFill/>
          <a:ln/>
        </p:spPr>
        <p:txBody>
          <a:bodyPr wrap="square" rtlCol="0" anchor="ctr"/>
          <a:lstStyle/>
          <a:p>
            <a:pPr marL="0" indent="0">
              <a:lnSpc>
                <a:spcPct val="108000"/>
              </a:lnSpc>
              <a:buNone/>
            </a:pPr>
            <a:r>
              <a:rPr lang="en-US" sz="1250" dirty="0">
                <a:solidFill>
                  <a:srgbClr val="5B6B7E"/>
                </a:solidFill>
                <a:latin typeface="Calibri" pitchFamily="34" charset="0"/>
                <a:ea typeface="Calibri" pitchFamily="34" charset="-122"/>
                <a:cs typeface="Calibri" pitchFamily="34" charset="-120"/>
              </a:rPr>
              <a:t>Software creates shareholder value only when customers can operate it without us in the room. This briefing therefore reports the product as a set of functional value streams: end-to-end processes a customer completes on screen, each ending in a work product that moves a KPI. The language and stream numbering come directly from our value stream analysis, so what you hear today reconciles line by line with that document.</a:t>
            </a:r>
            <a:endParaRPr lang="en-US" sz="1250" dirty="0"/>
          </a:p>
        </p:txBody>
      </p:sp>
      <p:sp>
        <p:nvSpPr>
          <p:cNvPr id="5" name="Shape 3"/>
          <p:cNvSpPr/>
          <p:nvPr/>
        </p:nvSpPr>
        <p:spPr>
          <a:xfrm>
            <a:off x="548640" y="2788920"/>
            <a:ext cx="3639312" cy="2377440"/>
          </a:xfrm>
          <a:prstGeom prst="roundRect">
            <a:avLst>
              <a:gd name="adj" fmla="val 3462"/>
            </a:avLst>
          </a:prstGeom>
          <a:solidFill>
            <a:srgbClr val="F3F6F9"/>
          </a:solidFill>
          <a:ln w="12700">
            <a:solidFill>
              <a:srgbClr val="D6DEE7"/>
            </a:solidFill>
            <a:prstDash val="solid"/>
          </a:ln>
        </p:spPr>
        <p:txBody>
          <a:bodyPr/>
          <a:lstStyle/>
          <a:p>
            <a:endParaRPr lang="en-US"/>
          </a:p>
        </p:txBody>
      </p:sp>
      <p:sp>
        <p:nvSpPr>
          <p:cNvPr id="6" name="Shape 4"/>
          <p:cNvSpPr/>
          <p:nvPr/>
        </p:nvSpPr>
        <p:spPr>
          <a:xfrm>
            <a:off x="768096" y="3017520"/>
            <a:ext cx="365760" cy="365760"/>
          </a:xfrm>
          <a:prstGeom prst="ellipse">
            <a:avLst/>
          </a:prstGeom>
          <a:solidFill>
            <a:srgbClr val="1C7293"/>
          </a:solidFill>
          <a:ln/>
        </p:spPr>
        <p:txBody>
          <a:bodyPr/>
          <a:lstStyle/>
          <a:p>
            <a:endParaRPr lang="en-US"/>
          </a:p>
        </p:txBody>
      </p:sp>
      <p:sp>
        <p:nvSpPr>
          <p:cNvPr id="7" name="Text 5"/>
          <p:cNvSpPr/>
          <p:nvPr/>
        </p:nvSpPr>
        <p:spPr>
          <a:xfrm>
            <a:off x="768096" y="3017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768096" y="3520440"/>
            <a:ext cx="3200400" cy="365760"/>
          </a:xfrm>
          <a:prstGeom prst="rect">
            <a:avLst/>
          </a:prstGeom>
          <a:noFill/>
          <a:ln/>
        </p:spPr>
        <p:txBody>
          <a:bodyPr wrap="square" lIns="0" tIns="0" rIns="0" bIns="0" rtlCol="0" anchor="ctr"/>
          <a:lstStyle/>
          <a:p>
            <a:pPr marL="0" indent="0">
              <a:buNone/>
            </a:pPr>
            <a:r>
              <a:rPr lang="en-US" sz="1450" b="1" dirty="0">
                <a:solidFill>
                  <a:srgbClr val="1F2A3C"/>
                </a:solidFill>
                <a:latin typeface="Cambria" pitchFamily="34" charset="0"/>
                <a:ea typeface="Cambria" pitchFamily="34" charset="-122"/>
                <a:cs typeface="Cambria" pitchFamily="34" charset="-120"/>
              </a:rPr>
              <a:t>What You Will See</a:t>
            </a:r>
            <a:endParaRPr lang="en-US" sz="1450" dirty="0"/>
          </a:p>
        </p:txBody>
      </p:sp>
      <p:sp>
        <p:nvSpPr>
          <p:cNvPr id="9" name="Text 7"/>
          <p:cNvSpPr/>
          <p:nvPr/>
        </p:nvSpPr>
        <p:spPr>
          <a:xfrm>
            <a:off x="768096" y="3931920"/>
            <a:ext cx="3200400" cy="1097280"/>
          </a:xfrm>
          <a:prstGeom prst="rect">
            <a:avLst/>
          </a:prstGeom>
          <a:noFill/>
          <a:ln/>
        </p:spPr>
        <p:txBody>
          <a:bodyPr wrap="square" lIns="0" tIns="0" rIns="0" bIns="0" rtlCol="0" anchor="ctr"/>
          <a:lstStyle/>
          <a:p>
            <a:pPr marL="0" indent="0">
              <a:buNone/>
            </a:pPr>
            <a:r>
              <a:rPr lang="en-US" sz="1050" dirty="0">
                <a:solidFill>
                  <a:srgbClr val="5B6B7E"/>
                </a:solidFill>
                <a:latin typeface="Calibri" pitchFamily="34" charset="0"/>
                <a:ea typeface="Calibri" pitchFamily="34" charset="-122"/>
                <a:cs typeface="Calibri" pitchFamily="34" charset="-120"/>
              </a:rPr>
              <a:t>Live screens with the exact clicks a customer performs, one screenshot frame per capability.</a:t>
            </a:r>
            <a:endParaRPr lang="en-US" sz="1050" dirty="0"/>
          </a:p>
        </p:txBody>
      </p:sp>
      <p:sp>
        <p:nvSpPr>
          <p:cNvPr id="10" name="Shape 8"/>
          <p:cNvSpPr/>
          <p:nvPr/>
        </p:nvSpPr>
        <p:spPr>
          <a:xfrm>
            <a:off x="4343400" y="2788920"/>
            <a:ext cx="3639312" cy="2377440"/>
          </a:xfrm>
          <a:prstGeom prst="roundRect">
            <a:avLst>
              <a:gd name="adj" fmla="val 3462"/>
            </a:avLst>
          </a:prstGeom>
          <a:solidFill>
            <a:srgbClr val="F3F6F9"/>
          </a:solidFill>
          <a:ln w="12700">
            <a:solidFill>
              <a:srgbClr val="D6DEE7"/>
            </a:solidFill>
            <a:prstDash val="solid"/>
          </a:ln>
        </p:spPr>
        <p:txBody>
          <a:bodyPr/>
          <a:lstStyle/>
          <a:p>
            <a:endParaRPr lang="en-US"/>
          </a:p>
        </p:txBody>
      </p:sp>
      <p:sp>
        <p:nvSpPr>
          <p:cNvPr id="11" name="Shape 9"/>
          <p:cNvSpPr/>
          <p:nvPr/>
        </p:nvSpPr>
        <p:spPr>
          <a:xfrm>
            <a:off x="4562856" y="3017520"/>
            <a:ext cx="365760" cy="365760"/>
          </a:xfrm>
          <a:prstGeom prst="ellipse">
            <a:avLst/>
          </a:prstGeom>
          <a:solidFill>
            <a:srgbClr val="1C7293"/>
          </a:solidFill>
          <a:ln/>
        </p:spPr>
        <p:txBody>
          <a:bodyPr/>
          <a:lstStyle/>
          <a:p>
            <a:endParaRPr lang="en-US"/>
          </a:p>
        </p:txBody>
      </p:sp>
      <p:sp>
        <p:nvSpPr>
          <p:cNvPr id="12" name="Text 10"/>
          <p:cNvSpPr/>
          <p:nvPr/>
        </p:nvSpPr>
        <p:spPr>
          <a:xfrm>
            <a:off x="4562856" y="3017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4562856" y="3520440"/>
            <a:ext cx="3200400" cy="365760"/>
          </a:xfrm>
          <a:prstGeom prst="rect">
            <a:avLst/>
          </a:prstGeom>
          <a:noFill/>
          <a:ln/>
        </p:spPr>
        <p:txBody>
          <a:bodyPr wrap="square" lIns="0" tIns="0" rIns="0" bIns="0" rtlCol="0" anchor="ctr"/>
          <a:lstStyle/>
          <a:p>
            <a:pPr marL="0" indent="0">
              <a:buNone/>
            </a:pPr>
            <a:r>
              <a:rPr lang="en-US" sz="1450" b="1" dirty="0">
                <a:solidFill>
                  <a:srgbClr val="1F2A3C"/>
                </a:solidFill>
                <a:latin typeface="Cambria" pitchFamily="34" charset="0"/>
                <a:ea typeface="Cambria" pitchFamily="34" charset="-122"/>
                <a:cs typeface="Cambria" pitchFamily="34" charset="-120"/>
              </a:rPr>
              <a:t>How To Judge It</a:t>
            </a:r>
            <a:endParaRPr lang="en-US" sz="1450" dirty="0"/>
          </a:p>
        </p:txBody>
      </p:sp>
      <p:sp>
        <p:nvSpPr>
          <p:cNvPr id="14" name="Text 12"/>
          <p:cNvSpPr/>
          <p:nvPr/>
        </p:nvSpPr>
        <p:spPr>
          <a:xfrm>
            <a:off x="4562856" y="3931920"/>
            <a:ext cx="3200400" cy="1097280"/>
          </a:xfrm>
          <a:prstGeom prst="rect">
            <a:avLst/>
          </a:prstGeom>
          <a:noFill/>
          <a:ln/>
        </p:spPr>
        <p:txBody>
          <a:bodyPr wrap="square" lIns="0" tIns="0" rIns="0" bIns="0" rtlCol="0" anchor="ctr"/>
          <a:lstStyle/>
          <a:p>
            <a:pPr marL="0" indent="0">
              <a:buNone/>
            </a:pPr>
            <a:r>
              <a:rPr lang="en-US" sz="1050" dirty="0">
                <a:solidFill>
                  <a:srgbClr val="5B6B7E"/>
                </a:solidFill>
                <a:latin typeface="Calibri" pitchFamily="34" charset="0"/>
                <a:ea typeface="Calibri" pitchFamily="34" charset="-122"/>
                <a:cs typeface="Calibri" pitchFamily="34" charset="-120"/>
              </a:rPr>
              <a:t>Each section opens with the business question it answers; each slide names the value streams at work.</a:t>
            </a:r>
            <a:endParaRPr lang="en-US" sz="1050" dirty="0"/>
          </a:p>
        </p:txBody>
      </p:sp>
      <p:sp>
        <p:nvSpPr>
          <p:cNvPr id="15" name="Shape 13"/>
          <p:cNvSpPr/>
          <p:nvPr/>
        </p:nvSpPr>
        <p:spPr>
          <a:xfrm>
            <a:off x="8138160" y="2788920"/>
            <a:ext cx="3639312" cy="2377440"/>
          </a:xfrm>
          <a:prstGeom prst="roundRect">
            <a:avLst>
              <a:gd name="adj" fmla="val 3462"/>
            </a:avLst>
          </a:prstGeom>
          <a:solidFill>
            <a:srgbClr val="F3F6F9"/>
          </a:solidFill>
          <a:ln w="12700">
            <a:solidFill>
              <a:srgbClr val="D6DEE7"/>
            </a:solidFill>
            <a:prstDash val="solid"/>
          </a:ln>
        </p:spPr>
        <p:txBody>
          <a:bodyPr/>
          <a:lstStyle/>
          <a:p>
            <a:endParaRPr lang="en-US"/>
          </a:p>
        </p:txBody>
      </p:sp>
      <p:sp>
        <p:nvSpPr>
          <p:cNvPr id="16" name="Shape 14"/>
          <p:cNvSpPr/>
          <p:nvPr/>
        </p:nvSpPr>
        <p:spPr>
          <a:xfrm>
            <a:off x="8357616" y="3017520"/>
            <a:ext cx="365760" cy="365760"/>
          </a:xfrm>
          <a:prstGeom prst="ellipse">
            <a:avLst/>
          </a:prstGeom>
          <a:solidFill>
            <a:srgbClr val="1C7293"/>
          </a:solidFill>
          <a:ln/>
        </p:spPr>
        <p:txBody>
          <a:bodyPr/>
          <a:lstStyle/>
          <a:p>
            <a:endParaRPr lang="en-US"/>
          </a:p>
        </p:txBody>
      </p:sp>
      <p:sp>
        <p:nvSpPr>
          <p:cNvPr id="17" name="Text 15"/>
          <p:cNvSpPr/>
          <p:nvPr/>
        </p:nvSpPr>
        <p:spPr>
          <a:xfrm>
            <a:off x="8357616" y="3017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p:nvPr/>
        </p:nvSpPr>
        <p:spPr>
          <a:xfrm>
            <a:off x="8357616" y="3520440"/>
            <a:ext cx="3200400" cy="365760"/>
          </a:xfrm>
          <a:prstGeom prst="rect">
            <a:avLst/>
          </a:prstGeom>
          <a:noFill/>
          <a:ln/>
        </p:spPr>
        <p:txBody>
          <a:bodyPr wrap="square" lIns="0" tIns="0" rIns="0" bIns="0" rtlCol="0" anchor="ctr"/>
          <a:lstStyle/>
          <a:p>
            <a:pPr marL="0" indent="0">
              <a:buNone/>
            </a:pPr>
            <a:r>
              <a:rPr lang="en-US" sz="1450" b="1" dirty="0">
                <a:solidFill>
                  <a:srgbClr val="1F2A3C"/>
                </a:solidFill>
                <a:latin typeface="Cambria" pitchFamily="34" charset="0"/>
                <a:ea typeface="Cambria" pitchFamily="34" charset="-122"/>
                <a:cs typeface="Cambria" pitchFamily="34" charset="-120"/>
              </a:rPr>
              <a:t>Where The Numbers Come From</a:t>
            </a:r>
            <a:endParaRPr lang="en-US" sz="1450" dirty="0"/>
          </a:p>
        </p:txBody>
      </p:sp>
      <p:sp>
        <p:nvSpPr>
          <p:cNvPr id="19" name="Text 17"/>
          <p:cNvSpPr/>
          <p:nvPr/>
        </p:nvSpPr>
        <p:spPr>
          <a:xfrm>
            <a:off x="8357616" y="3931920"/>
            <a:ext cx="3200400" cy="1097280"/>
          </a:xfrm>
          <a:prstGeom prst="rect">
            <a:avLst/>
          </a:prstGeom>
          <a:noFill/>
          <a:ln/>
        </p:spPr>
        <p:txBody>
          <a:bodyPr wrap="square" lIns="0" tIns="0" rIns="0" bIns="0" rtlCol="0" anchor="ctr"/>
          <a:lstStyle/>
          <a:p>
            <a:pPr marL="0" indent="0">
              <a:buNone/>
            </a:pPr>
            <a:r>
              <a:rPr lang="en-US" sz="1050" dirty="0">
                <a:solidFill>
                  <a:srgbClr val="5B6B7E"/>
                </a:solidFill>
                <a:latin typeface="Calibri" pitchFamily="34" charset="0"/>
                <a:ea typeface="Calibri" pitchFamily="34" charset="-122"/>
                <a:cs typeface="Calibri" pitchFamily="34" charset="-120"/>
              </a:rPr>
              <a:t>Market metrics are third-party research, cited on the slide where they appear, never our own estimates.</a:t>
            </a:r>
            <a:endParaRPr lang="en-US" sz="1050" dirty="0"/>
          </a:p>
        </p:txBody>
      </p:sp>
      <p:sp>
        <p:nvSpPr>
          <p:cNvPr id="20" name="Text 18"/>
          <p:cNvSpPr/>
          <p:nvPr/>
        </p:nvSpPr>
        <p:spPr>
          <a:xfrm>
            <a:off x="566928" y="5440680"/>
            <a:ext cx="10972800" cy="457200"/>
          </a:xfrm>
          <a:prstGeom prst="rect">
            <a:avLst/>
          </a:prstGeom>
          <a:noFill/>
          <a:ln/>
        </p:spPr>
        <p:txBody>
          <a:bodyPr wrap="square" rtlCol="0" anchor="ctr"/>
          <a:lstStyle/>
          <a:p>
            <a:pPr marL="0" indent="0">
              <a:buNone/>
            </a:pPr>
            <a:r>
              <a:rPr lang="en-US" sz="1150" i="1" dirty="0">
                <a:solidFill>
                  <a:srgbClr val="5B6B7E"/>
                </a:solidFill>
                <a:latin typeface="Calibri" pitchFamily="34" charset="0"/>
                <a:ea typeface="Calibri" pitchFamily="34" charset="-122"/>
                <a:cs typeface="Calibri" pitchFamily="34" charset="-120"/>
              </a:rPr>
              <a:t>One ask as we go: judge every capability by the question at the top of its section. If the screen does not answer the question, say so.</a:t>
            </a:r>
            <a:endParaRPr lang="en-US" sz="1150" dirty="0"/>
          </a:p>
        </p:txBody>
      </p:sp>
      <p:sp>
        <p:nvSpPr>
          <p:cNvPr id="21" name="Text 19"/>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22" name="Text 20"/>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Introduction</a:t>
            </a:r>
            <a:endParaRPr lang="en-US" sz="900" dirty="0"/>
          </a:p>
        </p:txBody>
      </p:sp>
      <p:sp>
        <p:nvSpPr>
          <p:cNvPr id="23" name="Text 21"/>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50" dirty="0">
                <a:solidFill>
                  <a:srgbClr val="1C7293"/>
                </a:solidFill>
                <a:latin typeface="Calibri" pitchFamily="34" charset="0"/>
                <a:ea typeface="Calibri" pitchFamily="34" charset="-122"/>
                <a:cs typeface="Calibri" pitchFamily="34" charset="-120"/>
              </a:rPr>
              <a:t>Contents</a:t>
            </a:r>
            <a:endParaRPr lang="en-US" sz="1200" dirty="0"/>
          </a:p>
        </p:txBody>
      </p:sp>
      <p:sp>
        <p:nvSpPr>
          <p:cNvPr id="3" name="Text 1"/>
          <p:cNvSpPr/>
          <p:nvPr/>
        </p:nvSpPr>
        <p:spPr>
          <a:xfrm>
            <a:off x="548640" y="658368"/>
            <a:ext cx="1115568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Table Of Contents</a:t>
            </a:r>
            <a:endParaRPr lang="en-US" sz="2700" dirty="0"/>
          </a:p>
        </p:txBody>
      </p:sp>
      <p:sp>
        <p:nvSpPr>
          <p:cNvPr id="4" name="Shape 2"/>
          <p:cNvSpPr/>
          <p:nvPr/>
        </p:nvSpPr>
        <p:spPr>
          <a:xfrm>
            <a:off x="548640" y="1481328"/>
            <a:ext cx="11091672" cy="548640"/>
          </a:xfrm>
          <a:prstGeom prst="roundRect">
            <a:avLst>
              <a:gd name="adj" fmla="val 13333"/>
            </a:avLst>
          </a:prstGeom>
          <a:solidFill>
            <a:srgbClr val="F3F6F9"/>
          </a:solidFill>
          <a:ln w="9525">
            <a:solidFill>
              <a:srgbClr val="D6DEE7"/>
            </a:solidFill>
            <a:prstDash val="solid"/>
          </a:ln>
        </p:spPr>
        <p:txBody>
          <a:bodyPr/>
          <a:lstStyle/>
          <a:p>
            <a:endParaRPr lang="en-US"/>
          </a:p>
        </p:txBody>
      </p:sp>
      <p:sp>
        <p:nvSpPr>
          <p:cNvPr id="5" name="Shape 3"/>
          <p:cNvSpPr/>
          <p:nvPr/>
        </p:nvSpPr>
        <p:spPr>
          <a:xfrm>
            <a:off x="713232" y="1600200"/>
            <a:ext cx="109728" cy="310896"/>
          </a:xfrm>
          <a:prstGeom prst="roundRect">
            <a:avLst>
              <a:gd name="adj" fmla="val 25000"/>
            </a:avLst>
          </a:prstGeom>
          <a:solidFill>
            <a:srgbClr val="1C7293"/>
          </a:solidFill>
          <a:ln/>
        </p:spPr>
        <p:txBody>
          <a:bodyPr/>
          <a:lstStyle/>
          <a:p>
            <a:endParaRPr lang="en-US"/>
          </a:p>
        </p:txBody>
      </p:sp>
      <p:sp>
        <p:nvSpPr>
          <p:cNvPr id="6" name="Text 4"/>
          <p:cNvSpPr/>
          <p:nvPr/>
        </p:nvSpPr>
        <p:spPr>
          <a:xfrm>
            <a:off x="960120" y="1481328"/>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Introduction</a:t>
            </a:r>
            <a:endParaRPr lang="en-US" sz="1250" dirty="0"/>
          </a:p>
        </p:txBody>
      </p:sp>
      <p:sp>
        <p:nvSpPr>
          <p:cNvPr id="7" name="Text 5"/>
          <p:cNvSpPr/>
          <p:nvPr/>
        </p:nvSpPr>
        <p:spPr>
          <a:xfrm>
            <a:off x="7040880" y="1481328"/>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Why usability is what we are reporting</a:t>
            </a:r>
            <a:endParaRPr lang="en-US" sz="1050" dirty="0"/>
          </a:p>
        </p:txBody>
      </p:sp>
      <p:sp>
        <p:nvSpPr>
          <p:cNvPr id="8" name="Text 6"/>
          <p:cNvSpPr/>
          <p:nvPr/>
        </p:nvSpPr>
        <p:spPr>
          <a:xfrm>
            <a:off x="10789920" y="1481328"/>
            <a:ext cx="640080" cy="548640"/>
          </a:xfrm>
          <a:prstGeom prst="rect">
            <a:avLst/>
          </a:prstGeom>
          <a:noFill/>
          <a:ln/>
        </p:spPr>
        <p:txBody>
          <a:bodyPr wrap="square" lIns="0" tIns="0" rIns="0" bIns="0" rtlCol="0" anchor="ctr"/>
          <a:lstStyle/>
          <a:p>
            <a:pPr marL="0" indent="0" algn="r">
              <a:buNone/>
            </a:pPr>
            <a:r>
              <a:rPr lang="en-US" sz="1300" b="1" dirty="0">
                <a:solidFill>
                  <a:srgbClr val="1C7293"/>
                </a:solidFill>
                <a:latin typeface="Cambria" pitchFamily="34" charset="0"/>
                <a:ea typeface="Cambria" pitchFamily="34" charset="-122"/>
                <a:cs typeface="Cambria" pitchFamily="34" charset="-120"/>
              </a:rPr>
              <a:t>2</a:t>
            </a:r>
            <a:endParaRPr lang="en-US" sz="1300" dirty="0"/>
          </a:p>
        </p:txBody>
      </p:sp>
      <p:sp>
        <p:nvSpPr>
          <p:cNvPr id="9" name="Shape 7"/>
          <p:cNvSpPr/>
          <p:nvPr/>
        </p:nvSpPr>
        <p:spPr>
          <a:xfrm>
            <a:off x="548640" y="2139696"/>
            <a:ext cx="11091672" cy="548640"/>
          </a:xfrm>
          <a:prstGeom prst="roundRect">
            <a:avLst>
              <a:gd name="adj" fmla="val 13333"/>
            </a:avLst>
          </a:prstGeom>
          <a:solidFill>
            <a:srgbClr val="FFFFFF"/>
          </a:solidFill>
          <a:ln w="9525">
            <a:solidFill>
              <a:srgbClr val="D6DEE7"/>
            </a:solidFill>
            <a:prstDash val="solid"/>
          </a:ln>
        </p:spPr>
        <p:txBody>
          <a:bodyPr/>
          <a:lstStyle/>
          <a:p>
            <a:endParaRPr lang="en-US"/>
          </a:p>
        </p:txBody>
      </p:sp>
      <p:sp>
        <p:nvSpPr>
          <p:cNvPr id="10" name="Shape 8"/>
          <p:cNvSpPr/>
          <p:nvPr/>
        </p:nvSpPr>
        <p:spPr>
          <a:xfrm>
            <a:off x="713232" y="2258568"/>
            <a:ext cx="109728" cy="310896"/>
          </a:xfrm>
          <a:prstGeom prst="roundRect">
            <a:avLst>
              <a:gd name="adj" fmla="val 25000"/>
            </a:avLst>
          </a:prstGeom>
          <a:solidFill>
            <a:srgbClr val="1C7293"/>
          </a:solidFill>
          <a:ln/>
        </p:spPr>
        <p:txBody>
          <a:bodyPr/>
          <a:lstStyle/>
          <a:p>
            <a:endParaRPr lang="en-US"/>
          </a:p>
        </p:txBody>
      </p:sp>
      <p:sp>
        <p:nvSpPr>
          <p:cNvPr id="11" name="Text 9"/>
          <p:cNvSpPr/>
          <p:nvPr/>
        </p:nvSpPr>
        <p:spPr>
          <a:xfrm>
            <a:off x="960120" y="2139696"/>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The Frame</a:t>
            </a:r>
            <a:endParaRPr lang="en-US" sz="1250" dirty="0"/>
          </a:p>
        </p:txBody>
      </p:sp>
      <p:sp>
        <p:nvSpPr>
          <p:cNvPr id="12" name="Text 10"/>
          <p:cNvSpPr/>
          <p:nvPr/>
        </p:nvSpPr>
        <p:spPr>
          <a:xfrm>
            <a:off x="7040880" y="2139696"/>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Four sections, seven value domains, one question each</a:t>
            </a:r>
            <a:endParaRPr lang="en-US" sz="1050" dirty="0"/>
          </a:p>
        </p:txBody>
      </p:sp>
      <p:sp>
        <p:nvSpPr>
          <p:cNvPr id="13" name="Text 11"/>
          <p:cNvSpPr/>
          <p:nvPr/>
        </p:nvSpPr>
        <p:spPr>
          <a:xfrm>
            <a:off x="10789920" y="2139696"/>
            <a:ext cx="640080" cy="548640"/>
          </a:xfrm>
          <a:prstGeom prst="rect">
            <a:avLst/>
          </a:prstGeom>
          <a:noFill/>
          <a:ln/>
        </p:spPr>
        <p:txBody>
          <a:bodyPr wrap="square" lIns="0" tIns="0" rIns="0" bIns="0" rtlCol="0" anchor="ctr"/>
          <a:lstStyle/>
          <a:p>
            <a:pPr marL="0" indent="0" algn="r">
              <a:buNone/>
            </a:pPr>
            <a:r>
              <a:rPr lang="en-US" sz="1300" b="1" dirty="0">
                <a:solidFill>
                  <a:srgbClr val="1C7293"/>
                </a:solidFill>
                <a:latin typeface="Cambria" pitchFamily="34" charset="0"/>
                <a:ea typeface="Cambria" pitchFamily="34" charset="-122"/>
                <a:cs typeface="Cambria" pitchFamily="34" charset="-120"/>
              </a:rPr>
              <a:t>4</a:t>
            </a:r>
            <a:endParaRPr lang="en-US" sz="1300" dirty="0"/>
          </a:p>
        </p:txBody>
      </p:sp>
      <p:sp>
        <p:nvSpPr>
          <p:cNvPr id="14" name="Shape 12"/>
          <p:cNvSpPr/>
          <p:nvPr/>
        </p:nvSpPr>
        <p:spPr>
          <a:xfrm>
            <a:off x="548640" y="2798064"/>
            <a:ext cx="11091672" cy="548640"/>
          </a:xfrm>
          <a:prstGeom prst="roundRect">
            <a:avLst>
              <a:gd name="adj" fmla="val 13333"/>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2916936"/>
            <a:ext cx="109728" cy="310896"/>
          </a:xfrm>
          <a:prstGeom prst="roundRect">
            <a:avLst>
              <a:gd name="adj" fmla="val 25000"/>
            </a:avLst>
          </a:prstGeom>
          <a:solidFill>
            <a:srgbClr val="1D5FAD"/>
          </a:solidFill>
          <a:ln/>
        </p:spPr>
        <p:txBody>
          <a:bodyPr/>
          <a:lstStyle/>
          <a:p>
            <a:endParaRPr lang="en-US"/>
          </a:p>
        </p:txBody>
      </p:sp>
      <p:sp>
        <p:nvSpPr>
          <p:cNvPr id="16" name="Text 14"/>
          <p:cNvSpPr/>
          <p:nvPr/>
        </p:nvSpPr>
        <p:spPr>
          <a:xfrm>
            <a:off x="960120" y="2798064"/>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Section 1  |  Automated Content Production, Research</a:t>
            </a:r>
            <a:endParaRPr lang="en-US" sz="1250" dirty="0"/>
          </a:p>
        </p:txBody>
      </p:sp>
      <p:sp>
        <p:nvSpPr>
          <p:cNvPr id="17" name="Text 15"/>
          <p:cNvSpPr/>
          <p:nvPr/>
        </p:nvSpPr>
        <p:spPr>
          <a:xfrm>
            <a:off x="7040880" y="2798064"/>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The content engine, the post lifecycle</a:t>
            </a:r>
            <a:endParaRPr lang="en-US" sz="1050" dirty="0"/>
          </a:p>
        </p:txBody>
      </p:sp>
      <p:sp>
        <p:nvSpPr>
          <p:cNvPr id="18" name="Text 16"/>
          <p:cNvSpPr/>
          <p:nvPr/>
        </p:nvSpPr>
        <p:spPr>
          <a:xfrm>
            <a:off x="10789920" y="2798064"/>
            <a:ext cx="640080" cy="548640"/>
          </a:xfrm>
          <a:prstGeom prst="rect">
            <a:avLst/>
          </a:prstGeom>
          <a:noFill/>
          <a:ln/>
        </p:spPr>
        <p:txBody>
          <a:bodyPr wrap="square" lIns="0" tIns="0" rIns="0" bIns="0" rtlCol="0" anchor="ctr"/>
          <a:lstStyle/>
          <a:p>
            <a:pPr marL="0" indent="0" algn="r">
              <a:buNone/>
            </a:pPr>
            <a:r>
              <a:rPr lang="en-US" sz="1300" b="1" dirty="0">
                <a:solidFill>
                  <a:srgbClr val="1D5FAD"/>
                </a:solidFill>
                <a:latin typeface="Cambria" pitchFamily="34" charset="0"/>
                <a:ea typeface="Cambria" pitchFamily="34" charset="-122"/>
                <a:cs typeface="Cambria" pitchFamily="34" charset="-120"/>
              </a:rPr>
              <a:t>5</a:t>
            </a:r>
            <a:endParaRPr lang="en-US" sz="1300" dirty="0"/>
          </a:p>
        </p:txBody>
      </p:sp>
      <p:sp>
        <p:nvSpPr>
          <p:cNvPr id="19" name="Shape 17"/>
          <p:cNvSpPr/>
          <p:nvPr/>
        </p:nvSpPr>
        <p:spPr>
          <a:xfrm>
            <a:off x="548640" y="3456432"/>
            <a:ext cx="11091672" cy="548640"/>
          </a:xfrm>
          <a:prstGeom prst="roundRect">
            <a:avLst>
              <a:gd name="adj" fmla="val 13333"/>
            </a:avLst>
          </a:prstGeom>
          <a:solidFill>
            <a:srgbClr val="FFFFFF"/>
          </a:solidFill>
          <a:ln w="9525">
            <a:solidFill>
              <a:srgbClr val="D6DEE7"/>
            </a:solidFill>
            <a:prstDash val="solid"/>
          </a:ln>
        </p:spPr>
        <p:txBody>
          <a:bodyPr/>
          <a:lstStyle/>
          <a:p>
            <a:endParaRPr lang="en-US"/>
          </a:p>
        </p:txBody>
      </p:sp>
      <p:sp>
        <p:nvSpPr>
          <p:cNvPr id="20" name="Shape 18"/>
          <p:cNvSpPr/>
          <p:nvPr/>
        </p:nvSpPr>
        <p:spPr>
          <a:xfrm>
            <a:off x="713232" y="3575304"/>
            <a:ext cx="109728" cy="310896"/>
          </a:xfrm>
          <a:prstGeom prst="roundRect">
            <a:avLst>
              <a:gd name="adj" fmla="val 25000"/>
            </a:avLst>
          </a:prstGeom>
          <a:solidFill>
            <a:srgbClr val="7C4DBC"/>
          </a:solidFill>
          <a:ln/>
        </p:spPr>
        <p:txBody>
          <a:bodyPr/>
          <a:lstStyle/>
          <a:p>
            <a:endParaRPr lang="en-US"/>
          </a:p>
        </p:txBody>
      </p:sp>
      <p:sp>
        <p:nvSpPr>
          <p:cNvPr id="21" name="Text 19"/>
          <p:cNvSpPr/>
          <p:nvPr/>
        </p:nvSpPr>
        <p:spPr>
          <a:xfrm>
            <a:off x="960120" y="3456432"/>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Section 2  |  Visual Content</a:t>
            </a:r>
            <a:endParaRPr lang="en-US" sz="1250" dirty="0"/>
          </a:p>
        </p:txBody>
      </p:sp>
      <p:sp>
        <p:nvSpPr>
          <p:cNvPr id="22" name="Text 20"/>
          <p:cNvSpPr/>
          <p:nvPr/>
        </p:nvSpPr>
        <p:spPr>
          <a:xfrm>
            <a:off x="7040880" y="3456432"/>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A design team in a side panel</a:t>
            </a:r>
            <a:endParaRPr lang="en-US" sz="1050" dirty="0"/>
          </a:p>
        </p:txBody>
      </p:sp>
      <p:sp>
        <p:nvSpPr>
          <p:cNvPr id="23" name="Text 21"/>
          <p:cNvSpPr/>
          <p:nvPr/>
        </p:nvSpPr>
        <p:spPr>
          <a:xfrm>
            <a:off x="10789920" y="3456432"/>
            <a:ext cx="640080" cy="548640"/>
          </a:xfrm>
          <a:prstGeom prst="rect">
            <a:avLst/>
          </a:prstGeom>
          <a:noFill/>
          <a:ln/>
        </p:spPr>
        <p:txBody>
          <a:bodyPr wrap="square" lIns="0" tIns="0" rIns="0" bIns="0" rtlCol="0" anchor="ctr"/>
          <a:lstStyle/>
          <a:p>
            <a:pPr marL="0" indent="0" algn="r">
              <a:buNone/>
            </a:pPr>
            <a:r>
              <a:rPr lang="en-US" sz="1300" b="1" dirty="0">
                <a:solidFill>
                  <a:srgbClr val="7C4DBC"/>
                </a:solidFill>
                <a:latin typeface="Cambria" pitchFamily="34" charset="0"/>
                <a:ea typeface="Cambria" pitchFamily="34" charset="-122"/>
                <a:cs typeface="Cambria" pitchFamily="34" charset="-120"/>
              </a:rPr>
              <a:t>7</a:t>
            </a:r>
            <a:endParaRPr lang="en-US" sz="1300" dirty="0"/>
          </a:p>
        </p:txBody>
      </p:sp>
      <p:sp>
        <p:nvSpPr>
          <p:cNvPr id="24" name="Shape 22"/>
          <p:cNvSpPr/>
          <p:nvPr/>
        </p:nvSpPr>
        <p:spPr>
          <a:xfrm>
            <a:off x="548640" y="4114800"/>
            <a:ext cx="11091672" cy="548640"/>
          </a:xfrm>
          <a:prstGeom prst="roundRect">
            <a:avLst>
              <a:gd name="adj" fmla="val 13333"/>
            </a:avLst>
          </a:prstGeom>
          <a:solidFill>
            <a:srgbClr val="F3F6F9"/>
          </a:solidFill>
          <a:ln w="9525">
            <a:solidFill>
              <a:srgbClr val="D6DEE7"/>
            </a:solidFill>
            <a:prstDash val="solid"/>
          </a:ln>
        </p:spPr>
        <p:txBody>
          <a:bodyPr/>
          <a:lstStyle/>
          <a:p>
            <a:endParaRPr lang="en-US"/>
          </a:p>
        </p:txBody>
      </p:sp>
      <p:sp>
        <p:nvSpPr>
          <p:cNvPr id="25" name="Shape 23"/>
          <p:cNvSpPr/>
          <p:nvPr/>
        </p:nvSpPr>
        <p:spPr>
          <a:xfrm>
            <a:off x="713232" y="4233672"/>
            <a:ext cx="109728" cy="310896"/>
          </a:xfrm>
          <a:prstGeom prst="roundRect">
            <a:avLst>
              <a:gd name="adj" fmla="val 25000"/>
            </a:avLst>
          </a:prstGeom>
          <a:solidFill>
            <a:srgbClr val="9C3D6E"/>
          </a:solidFill>
          <a:ln/>
        </p:spPr>
        <p:txBody>
          <a:bodyPr/>
          <a:lstStyle/>
          <a:p>
            <a:endParaRPr lang="en-US"/>
          </a:p>
        </p:txBody>
      </p:sp>
      <p:sp>
        <p:nvSpPr>
          <p:cNvPr id="26" name="Text 24"/>
          <p:cNvSpPr/>
          <p:nvPr/>
        </p:nvSpPr>
        <p:spPr>
          <a:xfrm>
            <a:off x="960120" y="4114800"/>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Section 3  |  Analytics, Advocacy Amplification</a:t>
            </a:r>
            <a:endParaRPr lang="en-US" sz="1250" dirty="0"/>
          </a:p>
        </p:txBody>
      </p:sp>
      <p:sp>
        <p:nvSpPr>
          <p:cNvPr id="27" name="Text 25"/>
          <p:cNvSpPr/>
          <p:nvPr/>
        </p:nvSpPr>
        <p:spPr>
          <a:xfrm>
            <a:off x="7040880" y="4114800"/>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Honest numbers, then the reach multiplier</a:t>
            </a:r>
            <a:endParaRPr lang="en-US" sz="1050" dirty="0"/>
          </a:p>
        </p:txBody>
      </p:sp>
      <p:sp>
        <p:nvSpPr>
          <p:cNvPr id="28" name="Text 26"/>
          <p:cNvSpPr/>
          <p:nvPr/>
        </p:nvSpPr>
        <p:spPr>
          <a:xfrm>
            <a:off x="10789920" y="4114800"/>
            <a:ext cx="640080" cy="548640"/>
          </a:xfrm>
          <a:prstGeom prst="rect">
            <a:avLst/>
          </a:prstGeom>
          <a:noFill/>
          <a:ln/>
        </p:spPr>
        <p:txBody>
          <a:bodyPr wrap="square" lIns="0" tIns="0" rIns="0" bIns="0" rtlCol="0" anchor="ctr"/>
          <a:lstStyle/>
          <a:p>
            <a:pPr marL="0" indent="0" algn="r">
              <a:buNone/>
            </a:pPr>
            <a:r>
              <a:rPr lang="en-US" sz="1300" b="1" dirty="0">
                <a:solidFill>
                  <a:srgbClr val="9C3D6E"/>
                </a:solidFill>
                <a:latin typeface="Cambria" pitchFamily="34" charset="0"/>
                <a:ea typeface="Cambria" pitchFamily="34" charset="-122"/>
                <a:cs typeface="Cambria" pitchFamily="34" charset="-120"/>
              </a:rPr>
              <a:t>8</a:t>
            </a:r>
            <a:endParaRPr lang="en-US" sz="1300" dirty="0"/>
          </a:p>
        </p:txBody>
      </p:sp>
      <p:sp>
        <p:nvSpPr>
          <p:cNvPr id="29" name="Shape 27"/>
          <p:cNvSpPr/>
          <p:nvPr/>
        </p:nvSpPr>
        <p:spPr>
          <a:xfrm>
            <a:off x="548640" y="4773168"/>
            <a:ext cx="11091672" cy="548640"/>
          </a:xfrm>
          <a:prstGeom prst="roundRect">
            <a:avLst>
              <a:gd name="adj" fmla="val 13333"/>
            </a:avLst>
          </a:prstGeom>
          <a:solidFill>
            <a:srgbClr val="FFFFFF"/>
          </a:solidFill>
          <a:ln w="9525">
            <a:solidFill>
              <a:srgbClr val="D6DEE7"/>
            </a:solidFill>
            <a:prstDash val="solid"/>
          </a:ln>
        </p:spPr>
        <p:txBody>
          <a:bodyPr/>
          <a:lstStyle/>
          <a:p>
            <a:endParaRPr lang="en-US"/>
          </a:p>
        </p:txBody>
      </p:sp>
      <p:sp>
        <p:nvSpPr>
          <p:cNvPr id="30" name="Shape 28"/>
          <p:cNvSpPr/>
          <p:nvPr/>
        </p:nvSpPr>
        <p:spPr>
          <a:xfrm>
            <a:off x="713232" y="4892040"/>
            <a:ext cx="109728" cy="310896"/>
          </a:xfrm>
          <a:prstGeom prst="roundRect">
            <a:avLst>
              <a:gd name="adj" fmla="val 25000"/>
            </a:avLst>
          </a:prstGeom>
          <a:solidFill>
            <a:srgbClr val="5B6B7E"/>
          </a:solidFill>
          <a:ln/>
        </p:spPr>
        <p:txBody>
          <a:bodyPr/>
          <a:lstStyle/>
          <a:p>
            <a:endParaRPr lang="en-US"/>
          </a:p>
        </p:txBody>
      </p:sp>
      <p:sp>
        <p:nvSpPr>
          <p:cNvPr id="31" name="Text 29"/>
          <p:cNvSpPr/>
          <p:nvPr/>
        </p:nvSpPr>
        <p:spPr>
          <a:xfrm>
            <a:off x="960120" y="4773168"/>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Section 4  |  Capacity, Cost, Continuity</a:t>
            </a:r>
            <a:endParaRPr lang="en-US" sz="1250" dirty="0"/>
          </a:p>
        </p:txBody>
      </p:sp>
      <p:sp>
        <p:nvSpPr>
          <p:cNvPr id="32" name="Text 30"/>
          <p:cNvSpPr/>
          <p:nvPr/>
        </p:nvSpPr>
        <p:spPr>
          <a:xfrm>
            <a:off x="7040880" y="4773168"/>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Scale the output, cap the spend</a:t>
            </a:r>
            <a:endParaRPr lang="en-US" sz="1050" dirty="0"/>
          </a:p>
        </p:txBody>
      </p:sp>
      <p:sp>
        <p:nvSpPr>
          <p:cNvPr id="33" name="Text 31"/>
          <p:cNvSpPr/>
          <p:nvPr/>
        </p:nvSpPr>
        <p:spPr>
          <a:xfrm>
            <a:off x="10789920" y="4773168"/>
            <a:ext cx="640080" cy="548640"/>
          </a:xfrm>
          <a:prstGeom prst="rect">
            <a:avLst/>
          </a:prstGeom>
          <a:noFill/>
          <a:ln/>
        </p:spPr>
        <p:txBody>
          <a:bodyPr wrap="square" lIns="0" tIns="0" rIns="0" bIns="0" rtlCol="0" anchor="ctr"/>
          <a:lstStyle/>
          <a:p>
            <a:pPr marL="0" indent="0" algn="r">
              <a:buNone/>
            </a:pPr>
            <a:r>
              <a:rPr lang="en-US" sz="1300" b="1" dirty="0">
                <a:solidFill>
                  <a:srgbClr val="5B6B7E"/>
                </a:solidFill>
                <a:latin typeface="Cambria" pitchFamily="34" charset="0"/>
                <a:ea typeface="Cambria" pitchFamily="34" charset="-122"/>
                <a:cs typeface="Cambria" pitchFamily="34" charset="-120"/>
              </a:rPr>
              <a:t>10</a:t>
            </a:r>
            <a:endParaRPr lang="en-US" sz="1300" dirty="0"/>
          </a:p>
        </p:txBody>
      </p:sp>
      <p:sp>
        <p:nvSpPr>
          <p:cNvPr id="34" name="Shape 32"/>
          <p:cNvSpPr/>
          <p:nvPr/>
        </p:nvSpPr>
        <p:spPr>
          <a:xfrm>
            <a:off x="548640" y="5431536"/>
            <a:ext cx="11091672" cy="548640"/>
          </a:xfrm>
          <a:prstGeom prst="roundRect">
            <a:avLst>
              <a:gd name="adj" fmla="val 13333"/>
            </a:avLst>
          </a:prstGeom>
          <a:solidFill>
            <a:srgbClr val="F3F6F9"/>
          </a:solidFill>
          <a:ln w="9525">
            <a:solidFill>
              <a:srgbClr val="D6DEE7"/>
            </a:solidFill>
            <a:prstDash val="solid"/>
          </a:ln>
        </p:spPr>
        <p:txBody>
          <a:bodyPr/>
          <a:lstStyle/>
          <a:p>
            <a:endParaRPr lang="en-US"/>
          </a:p>
        </p:txBody>
      </p:sp>
      <p:sp>
        <p:nvSpPr>
          <p:cNvPr id="35" name="Shape 33"/>
          <p:cNvSpPr/>
          <p:nvPr/>
        </p:nvSpPr>
        <p:spPr>
          <a:xfrm>
            <a:off x="713232" y="5550408"/>
            <a:ext cx="109728" cy="310896"/>
          </a:xfrm>
          <a:prstGeom prst="roundRect">
            <a:avLst>
              <a:gd name="adj" fmla="val 25000"/>
            </a:avLst>
          </a:prstGeom>
          <a:solidFill>
            <a:srgbClr val="16304C"/>
          </a:solidFill>
          <a:ln/>
        </p:spPr>
        <p:txBody>
          <a:bodyPr/>
          <a:lstStyle/>
          <a:p>
            <a:endParaRPr lang="en-US"/>
          </a:p>
        </p:txBody>
      </p:sp>
      <p:sp>
        <p:nvSpPr>
          <p:cNvPr id="36" name="Text 34"/>
          <p:cNvSpPr/>
          <p:nvPr/>
        </p:nvSpPr>
        <p:spPr>
          <a:xfrm>
            <a:off x="960120" y="5431536"/>
            <a:ext cx="6035040" cy="548640"/>
          </a:xfrm>
          <a:prstGeom prst="rect">
            <a:avLst/>
          </a:prstGeom>
          <a:noFill/>
          <a:ln/>
        </p:spPr>
        <p:txBody>
          <a:bodyPr wrap="square" lIns="0" tIns="0" rIns="0" bIns="0" rtlCol="0" anchor="ctr"/>
          <a:lstStyle/>
          <a:p>
            <a:pPr marL="0" indent="0">
              <a:buNone/>
            </a:pPr>
            <a:r>
              <a:rPr lang="en-US" sz="1250" b="1" dirty="0">
                <a:solidFill>
                  <a:srgbClr val="1F2A3C"/>
                </a:solidFill>
                <a:latin typeface="Calibri" pitchFamily="34" charset="0"/>
                <a:ea typeface="Calibri" pitchFamily="34" charset="-122"/>
                <a:cs typeface="Calibri" pitchFamily="34" charset="-120"/>
              </a:rPr>
              <a:t>The Takeaway</a:t>
            </a:r>
            <a:endParaRPr lang="en-US" sz="1250" dirty="0"/>
          </a:p>
        </p:txBody>
      </p:sp>
      <p:sp>
        <p:nvSpPr>
          <p:cNvPr id="37" name="Text 35"/>
          <p:cNvSpPr/>
          <p:nvPr/>
        </p:nvSpPr>
        <p:spPr>
          <a:xfrm>
            <a:off x="7040880" y="5431536"/>
            <a:ext cx="3657600" cy="548640"/>
          </a:xfrm>
          <a:prstGeom prst="rect">
            <a:avLst/>
          </a:prstGeom>
          <a:noFill/>
          <a:ln/>
        </p:spPr>
        <p:txBody>
          <a:bodyPr wrap="square" lIns="0" tIns="0" rIns="0" bIns="0"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Usability is the investment thesis</a:t>
            </a:r>
            <a:endParaRPr lang="en-US" sz="1050" dirty="0"/>
          </a:p>
        </p:txBody>
      </p:sp>
      <p:sp>
        <p:nvSpPr>
          <p:cNvPr id="38" name="Text 36"/>
          <p:cNvSpPr/>
          <p:nvPr/>
        </p:nvSpPr>
        <p:spPr>
          <a:xfrm>
            <a:off x="10789920" y="5431536"/>
            <a:ext cx="640080" cy="548640"/>
          </a:xfrm>
          <a:prstGeom prst="rect">
            <a:avLst/>
          </a:prstGeom>
          <a:noFill/>
          <a:ln/>
        </p:spPr>
        <p:txBody>
          <a:bodyPr wrap="square" lIns="0" tIns="0" rIns="0" bIns="0" rtlCol="0" anchor="ctr"/>
          <a:lstStyle/>
          <a:p>
            <a:pPr marL="0" indent="0" algn="r">
              <a:buNone/>
            </a:pPr>
            <a:r>
              <a:rPr lang="en-US" sz="1300" b="1" dirty="0">
                <a:solidFill>
                  <a:srgbClr val="16304C"/>
                </a:solidFill>
                <a:latin typeface="Cambria" pitchFamily="34" charset="0"/>
                <a:ea typeface="Cambria" pitchFamily="34" charset="-122"/>
                <a:cs typeface="Cambria" pitchFamily="34" charset="-120"/>
              </a:rPr>
              <a:t>11</a:t>
            </a:r>
            <a:endParaRPr lang="en-US" sz="1300" dirty="0"/>
          </a:p>
        </p:txBody>
      </p:sp>
      <p:sp>
        <p:nvSpPr>
          <p:cNvPr id="39" name="Text 3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40" name="Text 3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Contents</a:t>
            </a:r>
            <a:endParaRPr lang="en-US" sz="900" dirty="0"/>
          </a:p>
        </p:txBody>
      </p:sp>
      <p:sp>
        <p:nvSpPr>
          <p:cNvPr id="41" name="Text 3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50" dirty="0">
                <a:solidFill>
                  <a:srgbClr val="1C7293"/>
                </a:solidFill>
                <a:latin typeface="Calibri" pitchFamily="34" charset="0"/>
                <a:ea typeface="Calibri" pitchFamily="34" charset="-122"/>
                <a:cs typeface="Calibri" pitchFamily="34" charset="-120"/>
              </a:rPr>
              <a:t>The Frame</a:t>
            </a:r>
            <a:endParaRPr lang="en-US" sz="1200" dirty="0"/>
          </a:p>
        </p:txBody>
      </p:sp>
      <p:sp>
        <p:nvSpPr>
          <p:cNvPr id="3" name="Text 1"/>
          <p:cNvSpPr/>
          <p:nvPr/>
        </p:nvSpPr>
        <p:spPr>
          <a:xfrm>
            <a:off x="548640" y="658368"/>
            <a:ext cx="11155680" cy="548640"/>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Four Sections, Seven Value Domains, One Question Each</a:t>
            </a:r>
            <a:endParaRPr lang="en-US" sz="2700" dirty="0"/>
          </a:p>
        </p:txBody>
      </p:sp>
      <p:sp>
        <p:nvSpPr>
          <p:cNvPr id="4" name="Shape 2"/>
          <p:cNvSpPr/>
          <p:nvPr/>
        </p:nvSpPr>
        <p:spPr>
          <a:xfrm>
            <a:off x="548640" y="1463040"/>
            <a:ext cx="11091672" cy="987552"/>
          </a:xfrm>
          <a:prstGeom prst="roundRect">
            <a:avLst>
              <a:gd name="adj" fmla="val 8333"/>
            </a:avLst>
          </a:prstGeom>
          <a:solidFill>
            <a:srgbClr val="F3F6F9"/>
          </a:solidFill>
          <a:ln w="15875">
            <a:solidFill>
              <a:srgbClr val="1D5FAD"/>
            </a:solidFill>
            <a:prstDash val="solid"/>
          </a:ln>
        </p:spPr>
        <p:txBody>
          <a:bodyPr/>
          <a:lstStyle/>
          <a:p>
            <a:endParaRPr lang="en-US"/>
          </a:p>
        </p:txBody>
      </p:sp>
      <p:sp>
        <p:nvSpPr>
          <p:cNvPr id="5" name="Shape 3"/>
          <p:cNvSpPr/>
          <p:nvPr/>
        </p:nvSpPr>
        <p:spPr>
          <a:xfrm>
            <a:off x="749808" y="1737360"/>
            <a:ext cx="438912" cy="438912"/>
          </a:xfrm>
          <a:prstGeom prst="ellipse">
            <a:avLst/>
          </a:prstGeom>
          <a:solidFill>
            <a:srgbClr val="1D5FAD"/>
          </a:solidFill>
          <a:ln/>
        </p:spPr>
        <p:txBody>
          <a:bodyPr/>
          <a:lstStyle/>
          <a:p>
            <a:endParaRPr lang="en-US"/>
          </a:p>
        </p:txBody>
      </p:sp>
      <p:sp>
        <p:nvSpPr>
          <p:cNvPr id="6" name="Text 4"/>
          <p:cNvSpPr/>
          <p:nvPr/>
        </p:nvSpPr>
        <p:spPr>
          <a:xfrm>
            <a:off x="749808" y="173736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371600" y="1572768"/>
            <a:ext cx="7863840" cy="411480"/>
          </a:xfrm>
          <a:prstGeom prst="rect">
            <a:avLst/>
          </a:prstGeom>
          <a:noFill/>
          <a:ln/>
        </p:spPr>
        <p:txBody>
          <a:bodyPr wrap="square" lIns="0" tIns="0" rIns="0" bIns="0" rtlCol="0" anchor="ctr"/>
          <a:lstStyle/>
          <a:p>
            <a:pPr marL="0" indent="0">
              <a:buNone/>
            </a:pPr>
            <a:r>
              <a:rPr lang="en-US" sz="1350" b="1" dirty="0">
                <a:solidFill>
                  <a:srgbClr val="1F2A3C"/>
                </a:solidFill>
                <a:latin typeface="Calibri" pitchFamily="34" charset="0"/>
                <a:ea typeface="Calibri" pitchFamily="34" charset="-122"/>
                <a:cs typeface="Calibri" pitchFamily="34" charset="-120"/>
              </a:rPr>
              <a:t>Automated Content Production + Research, Market Awareness</a:t>
            </a:r>
            <a:endParaRPr lang="en-US" sz="1350" dirty="0"/>
          </a:p>
        </p:txBody>
      </p:sp>
      <p:sp>
        <p:nvSpPr>
          <p:cNvPr id="8" name="Text 6"/>
          <p:cNvSpPr/>
          <p:nvPr/>
        </p:nvSpPr>
        <p:spPr>
          <a:xfrm>
            <a:off x="1371600" y="1975104"/>
            <a:ext cx="7863840" cy="411480"/>
          </a:xfrm>
          <a:prstGeom prst="rect">
            <a:avLst/>
          </a:prstGeom>
          <a:noFill/>
          <a:ln/>
        </p:spPr>
        <p:txBody>
          <a:bodyPr wrap="square" lIns="0" tIns="0" rIns="0" bIns="0" rtlCol="0" anchor="t"/>
          <a:lstStyle/>
          <a:p>
            <a:pPr marL="0" indent="0">
              <a:buNone/>
            </a:pPr>
            <a:r>
              <a:rPr lang="en-US" sz="1100" i="1" dirty="0">
                <a:solidFill>
                  <a:srgbClr val="5B6B7E"/>
                </a:solidFill>
                <a:latin typeface="Calibri" pitchFamily="34" charset="0"/>
                <a:ea typeface="Calibri" pitchFamily="34" charset="-122"/>
                <a:cs typeface="Calibri" pitchFamily="34" charset="-120"/>
              </a:rPr>
              <a:t>How do we publish credible content constantly without a writing staff, and know what to say first?</a:t>
            </a:r>
            <a:endParaRPr lang="en-US" sz="1100" dirty="0"/>
          </a:p>
        </p:txBody>
      </p:sp>
      <p:sp>
        <p:nvSpPr>
          <p:cNvPr id="9" name="Shape 7"/>
          <p:cNvSpPr/>
          <p:nvPr/>
        </p:nvSpPr>
        <p:spPr>
          <a:xfrm>
            <a:off x="9509760" y="1755648"/>
            <a:ext cx="1920240" cy="402336"/>
          </a:xfrm>
          <a:prstGeom prst="roundRect">
            <a:avLst>
              <a:gd name="adj" fmla="val 15909"/>
            </a:avLst>
          </a:prstGeom>
          <a:solidFill>
            <a:srgbClr val="16304C"/>
          </a:solidFill>
          <a:ln/>
        </p:spPr>
        <p:txBody>
          <a:bodyPr/>
          <a:lstStyle/>
          <a:p>
            <a:endParaRPr lang="en-US"/>
          </a:p>
        </p:txBody>
      </p:sp>
      <p:sp>
        <p:nvSpPr>
          <p:cNvPr id="10" name="Text 8"/>
          <p:cNvSpPr/>
          <p:nvPr/>
        </p:nvSpPr>
        <p:spPr>
          <a:xfrm>
            <a:off x="9509760" y="1755648"/>
            <a:ext cx="1920240" cy="402336"/>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Domains A, D</a:t>
            </a:r>
            <a:endParaRPr lang="en-US" sz="1050" dirty="0"/>
          </a:p>
        </p:txBody>
      </p:sp>
      <p:sp>
        <p:nvSpPr>
          <p:cNvPr id="11" name="Shape 9"/>
          <p:cNvSpPr/>
          <p:nvPr/>
        </p:nvSpPr>
        <p:spPr>
          <a:xfrm>
            <a:off x="548640" y="2578608"/>
            <a:ext cx="11091672" cy="987552"/>
          </a:xfrm>
          <a:prstGeom prst="roundRect">
            <a:avLst>
              <a:gd name="adj" fmla="val 8333"/>
            </a:avLst>
          </a:prstGeom>
          <a:solidFill>
            <a:srgbClr val="F3F6F9"/>
          </a:solidFill>
          <a:ln w="15875">
            <a:solidFill>
              <a:srgbClr val="7C4DBC"/>
            </a:solidFill>
            <a:prstDash val="solid"/>
          </a:ln>
        </p:spPr>
        <p:txBody>
          <a:bodyPr/>
          <a:lstStyle/>
          <a:p>
            <a:endParaRPr lang="en-US"/>
          </a:p>
        </p:txBody>
      </p:sp>
      <p:sp>
        <p:nvSpPr>
          <p:cNvPr id="12" name="Shape 10"/>
          <p:cNvSpPr/>
          <p:nvPr/>
        </p:nvSpPr>
        <p:spPr>
          <a:xfrm>
            <a:off x="749808" y="2852928"/>
            <a:ext cx="438912" cy="438912"/>
          </a:xfrm>
          <a:prstGeom prst="ellipse">
            <a:avLst/>
          </a:prstGeom>
          <a:solidFill>
            <a:srgbClr val="7C4DBC"/>
          </a:solidFill>
          <a:ln/>
        </p:spPr>
        <p:txBody>
          <a:bodyPr/>
          <a:lstStyle/>
          <a:p>
            <a:endParaRPr lang="en-US"/>
          </a:p>
        </p:txBody>
      </p:sp>
      <p:sp>
        <p:nvSpPr>
          <p:cNvPr id="13" name="Text 11"/>
          <p:cNvSpPr/>
          <p:nvPr/>
        </p:nvSpPr>
        <p:spPr>
          <a:xfrm>
            <a:off x="749808" y="2852928"/>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1371600" y="2688336"/>
            <a:ext cx="7863840" cy="411480"/>
          </a:xfrm>
          <a:prstGeom prst="rect">
            <a:avLst/>
          </a:prstGeom>
          <a:noFill/>
          <a:ln/>
        </p:spPr>
        <p:txBody>
          <a:bodyPr wrap="square" lIns="0" tIns="0" rIns="0" bIns="0" rtlCol="0" anchor="ctr"/>
          <a:lstStyle/>
          <a:p>
            <a:pPr marL="0" indent="0">
              <a:buNone/>
            </a:pPr>
            <a:r>
              <a:rPr lang="en-US" sz="1350" b="1" dirty="0">
                <a:solidFill>
                  <a:srgbClr val="1F2A3C"/>
                </a:solidFill>
                <a:latin typeface="Calibri" pitchFamily="34" charset="0"/>
                <a:ea typeface="Calibri" pitchFamily="34" charset="-122"/>
                <a:cs typeface="Calibri" pitchFamily="34" charset="-120"/>
              </a:rPr>
              <a:t>Visual Content</a:t>
            </a:r>
            <a:endParaRPr lang="en-US" sz="1350" dirty="0"/>
          </a:p>
        </p:txBody>
      </p:sp>
      <p:sp>
        <p:nvSpPr>
          <p:cNvPr id="15" name="Text 13"/>
          <p:cNvSpPr/>
          <p:nvPr/>
        </p:nvSpPr>
        <p:spPr>
          <a:xfrm>
            <a:off x="1371600" y="3090672"/>
            <a:ext cx="7863840" cy="411480"/>
          </a:xfrm>
          <a:prstGeom prst="rect">
            <a:avLst/>
          </a:prstGeom>
          <a:noFill/>
          <a:ln/>
        </p:spPr>
        <p:txBody>
          <a:bodyPr wrap="square" lIns="0" tIns="0" rIns="0" bIns="0" rtlCol="0" anchor="t"/>
          <a:lstStyle/>
          <a:p>
            <a:pPr marL="0" indent="0">
              <a:buNone/>
            </a:pPr>
            <a:r>
              <a:rPr lang="en-US" sz="1100" i="1" dirty="0">
                <a:solidFill>
                  <a:srgbClr val="5B6B7E"/>
                </a:solidFill>
                <a:latin typeface="Calibri" pitchFamily="34" charset="0"/>
                <a:ea typeface="Calibri" pitchFamily="34" charset="-122"/>
                <a:cs typeface="Calibri" pitchFamily="34" charset="-120"/>
              </a:rPr>
              <a:t>How do we raise engagement per post without a design team?</a:t>
            </a:r>
            <a:endParaRPr lang="en-US" sz="1100" dirty="0"/>
          </a:p>
        </p:txBody>
      </p:sp>
      <p:sp>
        <p:nvSpPr>
          <p:cNvPr id="16" name="Shape 14"/>
          <p:cNvSpPr/>
          <p:nvPr/>
        </p:nvSpPr>
        <p:spPr>
          <a:xfrm>
            <a:off x="9509760" y="2871216"/>
            <a:ext cx="1920240" cy="402336"/>
          </a:xfrm>
          <a:prstGeom prst="roundRect">
            <a:avLst>
              <a:gd name="adj" fmla="val 15909"/>
            </a:avLst>
          </a:prstGeom>
          <a:solidFill>
            <a:srgbClr val="16304C"/>
          </a:solidFill>
          <a:ln/>
        </p:spPr>
        <p:txBody>
          <a:bodyPr/>
          <a:lstStyle/>
          <a:p>
            <a:endParaRPr lang="en-US"/>
          </a:p>
        </p:txBody>
      </p:sp>
      <p:sp>
        <p:nvSpPr>
          <p:cNvPr id="17" name="Text 15"/>
          <p:cNvSpPr/>
          <p:nvPr/>
        </p:nvSpPr>
        <p:spPr>
          <a:xfrm>
            <a:off x="9509760" y="2871216"/>
            <a:ext cx="1920240" cy="402336"/>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Domains B</a:t>
            </a:r>
            <a:endParaRPr lang="en-US" sz="1050" dirty="0"/>
          </a:p>
        </p:txBody>
      </p:sp>
      <p:sp>
        <p:nvSpPr>
          <p:cNvPr id="18" name="Shape 16"/>
          <p:cNvSpPr/>
          <p:nvPr/>
        </p:nvSpPr>
        <p:spPr>
          <a:xfrm>
            <a:off x="548640" y="3694176"/>
            <a:ext cx="11091672" cy="987552"/>
          </a:xfrm>
          <a:prstGeom prst="roundRect">
            <a:avLst>
              <a:gd name="adj" fmla="val 8333"/>
            </a:avLst>
          </a:prstGeom>
          <a:solidFill>
            <a:srgbClr val="F3F6F9"/>
          </a:solidFill>
          <a:ln w="15875">
            <a:solidFill>
              <a:srgbClr val="9C3D6E"/>
            </a:solidFill>
            <a:prstDash val="solid"/>
          </a:ln>
        </p:spPr>
        <p:txBody>
          <a:bodyPr/>
          <a:lstStyle/>
          <a:p>
            <a:endParaRPr lang="en-US"/>
          </a:p>
        </p:txBody>
      </p:sp>
      <p:sp>
        <p:nvSpPr>
          <p:cNvPr id="19" name="Shape 17"/>
          <p:cNvSpPr/>
          <p:nvPr/>
        </p:nvSpPr>
        <p:spPr>
          <a:xfrm>
            <a:off x="749808" y="3968496"/>
            <a:ext cx="438912" cy="438912"/>
          </a:xfrm>
          <a:prstGeom prst="ellipse">
            <a:avLst/>
          </a:prstGeom>
          <a:solidFill>
            <a:srgbClr val="9C3D6E"/>
          </a:solidFill>
          <a:ln/>
        </p:spPr>
        <p:txBody>
          <a:bodyPr/>
          <a:lstStyle/>
          <a:p>
            <a:endParaRPr lang="en-US"/>
          </a:p>
        </p:txBody>
      </p:sp>
      <p:sp>
        <p:nvSpPr>
          <p:cNvPr id="20" name="Text 18"/>
          <p:cNvSpPr/>
          <p:nvPr/>
        </p:nvSpPr>
        <p:spPr>
          <a:xfrm>
            <a:off x="749808" y="3968496"/>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p:nvPr/>
        </p:nvSpPr>
        <p:spPr>
          <a:xfrm>
            <a:off x="1371600" y="3803904"/>
            <a:ext cx="7863840" cy="411480"/>
          </a:xfrm>
          <a:prstGeom prst="rect">
            <a:avLst/>
          </a:prstGeom>
          <a:noFill/>
          <a:ln/>
        </p:spPr>
        <p:txBody>
          <a:bodyPr wrap="square" lIns="0" tIns="0" rIns="0" bIns="0" rtlCol="0" anchor="ctr"/>
          <a:lstStyle/>
          <a:p>
            <a:pPr marL="0" indent="0">
              <a:buNone/>
            </a:pPr>
            <a:r>
              <a:rPr lang="en-US" sz="1350" b="1" dirty="0">
                <a:solidFill>
                  <a:srgbClr val="1F2A3C"/>
                </a:solidFill>
                <a:latin typeface="Calibri" pitchFamily="34" charset="0"/>
                <a:ea typeface="Calibri" pitchFamily="34" charset="-122"/>
                <a:cs typeface="Calibri" pitchFamily="34" charset="-120"/>
              </a:rPr>
              <a:t>Organization Analytics + Advocacy Amplification</a:t>
            </a:r>
            <a:endParaRPr lang="en-US" sz="1350" dirty="0"/>
          </a:p>
        </p:txBody>
      </p:sp>
      <p:sp>
        <p:nvSpPr>
          <p:cNvPr id="22" name="Text 20"/>
          <p:cNvSpPr/>
          <p:nvPr/>
        </p:nvSpPr>
        <p:spPr>
          <a:xfrm>
            <a:off x="1371600" y="4206240"/>
            <a:ext cx="7863840" cy="411480"/>
          </a:xfrm>
          <a:prstGeom prst="rect">
            <a:avLst/>
          </a:prstGeom>
          <a:noFill/>
          <a:ln/>
        </p:spPr>
        <p:txBody>
          <a:bodyPr wrap="square" lIns="0" tIns="0" rIns="0" bIns="0" rtlCol="0" anchor="t"/>
          <a:lstStyle/>
          <a:p>
            <a:pPr marL="0" indent="0">
              <a:buNone/>
            </a:pPr>
            <a:r>
              <a:rPr lang="en-US" sz="1100" i="1" dirty="0">
                <a:solidFill>
                  <a:srgbClr val="5B6B7E"/>
                </a:solidFill>
                <a:latin typeface="Calibri" pitchFamily="34" charset="0"/>
                <a:ea typeface="Calibri" pitchFamily="34" charset="-122"/>
                <a:cs typeface="Calibri" pitchFamily="34" charset="-120"/>
              </a:rPr>
              <a:t>How do we know what worked, then multiply reach through our own people?</a:t>
            </a:r>
            <a:endParaRPr lang="en-US" sz="1100" dirty="0"/>
          </a:p>
        </p:txBody>
      </p:sp>
      <p:sp>
        <p:nvSpPr>
          <p:cNvPr id="23" name="Shape 21"/>
          <p:cNvSpPr/>
          <p:nvPr/>
        </p:nvSpPr>
        <p:spPr>
          <a:xfrm>
            <a:off x="9509760" y="3986784"/>
            <a:ext cx="1920240" cy="402336"/>
          </a:xfrm>
          <a:prstGeom prst="roundRect">
            <a:avLst>
              <a:gd name="adj" fmla="val 15909"/>
            </a:avLst>
          </a:prstGeom>
          <a:solidFill>
            <a:srgbClr val="16304C"/>
          </a:solidFill>
          <a:ln/>
        </p:spPr>
        <p:txBody>
          <a:bodyPr/>
          <a:lstStyle/>
          <a:p>
            <a:endParaRPr lang="en-US"/>
          </a:p>
        </p:txBody>
      </p:sp>
      <p:sp>
        <p:nvSpPr>
          <p:cNvPr id="24" name="Text 22"/>
          <p:cNvSpPr/>
          <p:nvPr/>
        </p:nvSpPr>
        <p:spPr>
          <a:xfrm>
            <a:off x="9509760" y="3986784"/>
            <a:ext cx="1920240" cy="402336"/>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Domains E, F</a:t>
            </a:r>
            <a:endParaRPr lang="en-US" sz="1050" dirty="0"/>
          </a:p>
        </p:txBody>
      </p:sp>
      <p:sp>
        <p:nvSpPr>
          <p:cNvPr id="25" name="Shape 23"/>
          <p:cNvSpPr/>
          <p:nvPr/>
        </p:nvSpPr>
        <p:spPr>
          <a:xfrm>
            <a:off x="548640" y="4809744"/>
            <a:ext cx="11091672" cy="987552"/>
          </a:xfrm>
          <a:prstGeom prst="roundRect">
            <a:avLst>
              <a:gd name="adj" fmla="val 8333"/>
            </a:avLst>
          </a:prstGeom>
          <a:solidFill>
            <a:srgbClr val="F3F6F9"/>
          </a:solidFill>
          <a:ln w="15875">
            <a:solidFill>
              <a:srgbClr val="5B6B7E"/>
            </a:solidFill>
            <a:prstDash val="solid"/>
          </a:ln>
        </p:spPr>
        <p:txBody>
          <a:bodyPr/>
          <a:lstStyle/>
          <a:p>
            <a:endParaRPr lang="en-US"/>
          </a:p>
        </p:txBody>
      </p:sp>
      <p:sp>
        <p:nvSpPr>
          <p:cNvPr id="26" name="Shape 24"/>
          <p:cNvSpPr/>
          <p:nvPr/>
        </p:nvSpPr>
        <p:spPr>
          <a:xfrm>
            <a:off x="749808" y="5084064"/>
            <a:ext cx="438912" cy="438912"/>
          </a:xfrm>
          <a:prstGeom prst="ellipse">
            <a:avLst/>
          </a:prstGeom>
          <a:solidFill>
            <a:srgbClr val="5B6B7E"/>
          </a:solidFill>
          <a:ln/>
        </p:spPr>
        <p:txBody>
          <a:bodyPr/>
          <a:lstStyle/>
          <a:p>
            <a:endParaRPr lang="en-US"/>
          </a:p>
        </p:txBody>
      </p:sp>
      <p:sp>
        <p:nvSpPr>
          <p:cNvPr id="27" name="Text 25"/>
          <p:cNvSpPr/>
          <p:nvPr/>
        </p:nvSpPr>
        <p:spPr>
          <a:xfrm>
            <a:off x="749808" y="5084064"/>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8" name="Text 26"/>
          <p:cNvSpPr/>
          <p:nvPr/>
        </p:nvSpPr>
        <p:spPr>
          <a:xfrm>
            <a:off x="1371600" y="4919472"/>
            <a:ext cx="7863840" cy="411480"/>
          </a:xfrm>
          <a:prstGeom prst="rect">
            <a:avLst/>
          </a:prstGeom>
          <a:noFill/>
          <a:ln/>
        </p:spPr>
        <p:txBody>
          <a:bodyPr wrap="square" lIns="0" tIns="0" rIns="0" bIns="0" rtlCol="0" anchor="ctr"/>
          <a:lstStyle/>
          <a:p>
            <a:pPr marL="0" indent="0">
              <a:buNone/>
            </a:pPr>
            <a:r>
              <a:rPr lang="en-US" sz="1350" b="1" dirty="0">
                <a:solidFill>
                  <a:srgbClr val="1F2A3C"/>
                </a:solidFill>
                <a:latin typeface="Calibri" pitchFamily="34" charset="0"/>
                <a:ea typeface="Calibri" pitchFamily="34" charset="-122"/>
                <a:cs typeface="Calibri" pitchFamily="34" charset="-120"/>
              </a:rPr>
              <a:t>Capacity, Cost, Continuity</a:t>
            </a:r>
            <a:endParaRPr lang="en-US" sz="1350" dirty="0"/>
          </a:p>
        </p:txBody>
      </p:sp>
      <p:sp>
        <p:nvSpPr>
          <p:cNvPr id="29" name="Text 27"/>
          <p:cNvSpPr/>
          <p:nvPr/>
        </p:nvSpPr>
        <p:spPr>
          <a:xfrm>
            <a:off x="1371600" y="5321808"/>
            <a:ext cx="7863840" cy="411480"/>
          </a:xfrm>
          <a:prstGeom prst="rect">
            <a:avLst/>
          </a:prstGeom>
          <a:noFill/>
          <a:ln/>
        </p:spPr>
        <p:txBody>
          <a:bodyPr wrap="square" lIns="0" tIns="0" rIns="0" bIns="0" rtlCol="0" anchor="t"/>
          <a:lstStyle/>
          <a:p>
            <a:pPr marL="0" indent="0">
              <a:buNone/>
            </a:pPr>
            <a:r>
              <a:rPr lang="en-US" sz="1100" i="1" dirty="0">
                <a:solidFill>
                  <a:srgbClr val="5B6B7E"/>
                </a:solidFill>
                <a:latin typeface="Calibri" pitchFamily="34" charset="0"/>
                <a:ea typeface="Calibri" pitchFamily="34" charset="-122"/>
                <a:cs typeface="Calibri" pitchFamily="34" charset="-120"/>
              </a:rPr>
              <a:t>How do we scale output while controlling spend and risk?</a:t>
            </a:r>
            <a:endParaRPr lang="en-US" sz="1100" dirty="0"/>
          </a:p>
        </p:txBody>
      </p:sp>
      <p:sp>
        <p:nvSpPr>
          <p:cNvPr id="30" name="Shape 28"/>
          <p:cNvSpPr/>
          <p:nvPr/>
        </p:nvSpPr>
        <p:spPr>
          <a:xfrm>
            <a:off x="9509760" y="5102352"/>
            <a:ext cx="1920240" cy="402336"/>
          </a:xfrm>
          <a:prstGeom prst="roundRect">
            <a:avLst>
              <a:gd name="adj" fmla="val 15909"/>
            </a:avLst>
          </a:prstGeom>
          <a:solidFill>
            <a:srgbClr val="16304C"/>
          </a:solidFill>
          <a:ln/>
        </p:spPr>
        <p:txBody>
          <a:bodyPr/>
          <a:lstStyle/>
          <a:p>
            <a:endParaRPr lang="en-US"/>
          </a:p>
        </p:txBody>
      </p:sp>
      <p:sp>
        <p:nvSpPr>
          <p:cNvPr id="31" name="Text 29"/>
          <p:cNvSpPr/>
          <p:nvPr/>
        </p:nvSpPr>
        <p:spPr>
          <a:xfrm>
            <a:off x="9509760" y="5102352"/>
            <a:ext cx="1920240" cy="402336"/>
          </a:xfrm>
          <a:prstGeom prst="rect">
            <a:avLst/>
          </a:prstGeom>
          <a:noFill/>
          <a:ln/>
        </p:spPr>
        <p:txBody>
          <a:bodyPr wrap="square" lIns="0" tIns="0" rIns="0" bIns="0" rtlCol="0" anchor="ctr"/>
          <a:lstStyle/>
          <a:p>
            <a:pPr marL="0" indent="0" algn="ctr">
              <a:buNone/>
            </a:pPr>
            <a:r>
              <a:rPr lang="en-US" sz="1050" b="1" dirty="0">
                <a:solidFill>
                  <a:srgbClr val="CADCFC"/>
                </a:solidFill>
                <a:latin typeface="Calibri" pitchFamily="34" charset="0"/>
                <a:ea typeface="Calibri" pitchFamily="34" charset="-122"/>
                <a:cs typeface="Calibri" pitchFamily="34" charset="-120"/>
              </a:rPr>
              <a:t>Domains G</a:t>
            </a:r>
            <a:endParaRPr lang="en-US" sz="1050" dirty="0"/>
          </a:p>
        </p:txBody>
      </p:sp>
      <p:sp>
        <p:nvSpPr>
          <p:cNvPr id="32" name="Text 30"/>
          <p:cNvSpPr/>
          <p:nvPr/>
        </p:nvSpPr>
        <p:spPr>
          <a:xfrm>
            <a:off x="548640" y="5989320"/>
            <a:ext cx="11064240" cy="365760"/>
          </a:xfrm>
          <a:prstGeom prst="rect">
            <a:avLst/>
          </a:prstGeom>
          <a:noFill/>
          <a:ln/>
        </p:spPr>
        <p:txBody>
          <a:bodyPr wrap="square" rtlCol="0" anchor="ctr"/>
          <a:lstStyle/>
          <a:p>
            <a:pPr marL="0" indent="0">
              <a:buNone/>
            </a:pPr>
            <a:r>
              <a:rPr lang="en-US" sz="1050" i="1" dirty="0">
                <a:solidFill>
                  <a:srgbClr val="5B6B7E"/>
                </a:solidFill>
                <a:latin typeface="Calibri" pitchFamily="34" charset="0"/>
                <a:ea typeface="Calibri" pitchFamily="34" charset="-122"/>
                <a:cs typeface="Calibri" pitchFamily="34" charset="-120"/>
              </a:rPr>
              <a:t>Language and stream IDs follow the company's value stream analysis; every section shows the live screen a customer uses.</a:t>
            </a:r>
            <a:endParaRPr lang="en-US" sz="1050" dirty="0"/>
          </a:p>
        </p:txBody>
      </p:sp>
      <p:sp>
        <p:nvSpPr>
          <p:cNvPr id="33" name="Text 31"/>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4" name="Text 32"/>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The Frame</a:t>
            </a:r>
            <a:endParaRPr lang="en-US" sz="900" dirty="0"/>
          </a:p>
        </p:txBody>
      </p:sp>
      <p:sp>
        <p:nvSpPr>
          <p:cNvPr id="35" name="Text 33"/>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1D5FAD"/>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1</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1D5FAD"/>
                </a:solidFill>
                <a:latin typeface="Calibri" pitchFamily="34" charset="0"/>
                <a:ea typeface="Calibri" pitchFamily="34" charset="-122"/>
                <a:cs typeface="Calibri" pitchFamily="34" charset="-120"/>
              </a:rPr>
              <a:t>Automated Content Production  |  Research, Market Awareness</a:t>
            </a:r>
            <a:endParaRPr lang="en-US" sz="1150" dirty="0"/>
          </a:p>
        </p:txBody>
      </p:sp>
      <p:sp>
        <p:nvSpPr>
          <p:cNvPr id="5" name="Text 3"/>
          <p:cNvSpPr/>
          <p:nvPr/>
        </p:nvSpPr>
        <p:spPr>
          <a:xfrm>
            <a:off x="548640" y="932688"/>
            <a:ext cx="1115568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The Content Engine Starts With A Topic, Not A Writer</a:t>
            </a:r>
            <a:endParaRPr lang="en-US" sz="2700" dirty="0"/>
          </a:p>
        </p:txBody>
      </p:sp>
      <p:sp>
        <p:nvSpPr>
          <p:cNvPr id="6" name="Text 4"/>
          <p:cNvSpPr/>
          <p:nvPr/>
        </p:nvSpPr>
        <p:spPr>
          <a:xfrm>
            <a:off x="566928" y="1536192"/>
            <a:ext cx="5760720"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A customer types a topic they want to own. The platform proposes ten content angles, discovers the industry feeds worth trusting (each validated and graded before acceptance), and begins reading the market on a schedule. No writing staff was hired in the making of this pipeline.</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1D5FAD"/>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Create a topic in one form; accept AI-proposed angles (D1)</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1D5FAD"/>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One click discovers feeds; each arrives graded before joining (D2)</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1D5FAD"/>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Articles populate the research monitor; refresh on demand (D4)</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1D5FAD"/>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The radar runs while the customer sleeps (A1)</a:t>
            </a:r>
            <a:endParaRPr lang="en-US" sz="1050" dirty="0"/>
          </a:p>
        </p:txBody>
      </p:sp>
      <p:sp>
        <p:nvSpPr>
          <p:cNvPr id="20" name="Shape 18"/>
          <p:cNvSpPr/>
          <p:nvPr/>
        </p:nvSpPr>
        <p:spPr>
          <a:xfrm>
            <a:off x="566928" y="5303520"/>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303520"/>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D1, D2, D4, A1    |    Domains A, D</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www.majikl.com/app/topics</a:t>
            </a:r>
            <a:endParaRPr lang="en-US" sz="1000" dirty="0"/>
          </a:p>
        </p:txBody>
      </p:sp>
      <p:sp>
        <p:nvSpPr>
          <p:cNvPr id="26" name="Shape 24"/>
          <p:cNvSpPr/>
          <p:nvPr/>
        </p:nvSpPr>
        <p:spPr>
          <a:xfrm>
            <a:off x="6537960" y="5074920"/>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129784"/>
            <a:ext cx="96012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2x</a:t>
            </a:r>
            <a:endParaRPr lang="en-US" sz="3300" dirty="0"/>
          </a:p>
        </p:txBody>
      </p:sp>
      <p:sp>
        <p:nvSpPr>
          <p:cNvPr id="28" name="Text 26"/>
          <p:cNvSpPr/>
          <p:nvPr/>
        </p:nvSpPr>
        <p:spPr>
          <a:xfrm>
            <a:off x="7680960" y="5148072"/>
            <a:ext cx="384048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Businesses posting weekly on LinkedIn see twice the engagement of inconsistent publishers. Consistency is exactly what automation guarantees.
</a:t>
            </a:r>
            <a:r>
              <a:rPr lang="en-US" sz="850" i="1" dirty="0">
                <a:solidFill>
                  <a:srgbClr val="9AA7B6"/>
                </a:solidFill>
                <a:latin typeface="Calibri" pitchFamily="34" charset="0"/>
                <a:ea typeface="Calibri" pitchFamily="34" charset="-122"/>
                <a:cs typeface="Calibri" pitchFamily="34" charset="-120"/>
              </a:rPr>
              <a:t>Source: LinkedIn data via Cognism,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1: The Engine</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1D5FAD"/>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1</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1D5FAD"/>
                </a:solidFill>
                <a:latin typeface="Calibri" pitchFamily="34" charset="0"/>
                <a:ea typeface="Calibri" pitchFamily="34" charset="-122"/>
                <a:cs typeface="Calibri" pitchFamily="34" charset="-120"/>
              </a:rPr>
              <a:t>Automated Content Production  |  Research, Market Awareness</a:t>
            </a:r>
            <a:endParaRPr lang="en-US" sz="1150" dirty="0"/>
          </a:p>
        </p:txBody>
      </p:sp>
      <p:sp>
        <p:nvSpPr>
          <p:cNvPr id="5" name="Text 3"/>
          <p:cNvSpPr/>
          <p:nvPr/>
        </p:nvSpPr>
        <p:spPr>
          <a:xfrm>
            <a:off x="548640" y="932688"/>
            <a:ext cx="554736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From Research To A Post</a:t>
            </a:r>
            <a:endParaRPr lang="en-US" sz="2700" dirty="0"/>
          </a:p>
        </p:txBody>
      </p:sp>
      <p:sp>
        <p:nvSpPr>
          <p:cNvPr id="6" name="Text 4"/>
          <p:cNvSpPr/>
          <p:nvPr/>
        </p:nvSpPr>
        <p:spPr>
          <a:xfrm>
            <a:off x="566928" y="1536192"/>
            <a:ext cx="5760720"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Every draft is born researched: sources read live, claims corroborated across independent outlets, verified figures inserted mechanically so the AI never types a number. The customer reviews a queue, edits or one-click rewrites, and approves. Nothing publishes without that click.</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1D5FAD"/>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Generate on demand or let the twice-daily cycle draft (A1, A2)</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1D5FAD"/>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Every draft carries a named primary source, or it does not exist (A4)</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1D5FAD"/>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Review, edit, rewrite, approve; schedule to the minute (A5, C2)</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1D5FAD"/>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One pipeline posts to the company page or a personal profile (C3)</a:t>
            </a:r>
            <a:endParaRPr lang="en-US" sz="1050" dirty="0"/>
          </a:p>
        </p:txBody>
      </p:sp>
      <p:sp>
        <p:nvSpPr>
          <p:cNvPr id="20" name="Shape 18"/>
          <p:cNvSpPr/>
          <p:nvPr/>
        </p:nvSpPr>
        <p:spPr>
          <a:xfrm>
            <a:off x="566928" y="5367528"/>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367528"/>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A1 To A5, C2, C3    |    Domains A, D</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a:t>
            </a:r>
            <a:endParaRPr lang="en-US" sz="1000" dirty="0"/>
          </a:p>
        </p:txBody>
      </p:sp>
      <p:sp>
        <p:nvSpPr>
          <p:cNvPr id="26" name="Shape 24"/>
          <p:cNvSpPr/>
          <p:nvPr/>
        </p:nvSpPr>
        <p:spPr>
          <a:xfrm>
            <a:off x="6537960" y="5367528"/>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422392"/>
            <a:ext cx="132588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84%</a:t>
            </a:r>
            <a:endParaRPr lang="en-US" sz="3300" dirty="0"/>
          </a:p>
        </p:txBody>
      </p:sp>
      <p:sp>
        <p:nvSpPr>
          <p:cNvPr id="28" name="Text 26"/>
          <p:cNvSpPr/>
          <p:nvPr/>
        </p:nvSpPr>
        <p:spPr>
          <a:xfrm>
            <a:off x="8046720" y="5440680"/>
            <a:ext cx="347472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Of B2B marketers say LinkedIn delivers their best platform value. This engine feeds that channel a defensible post at a time.
</a:t>
            </a:r>
            <a:r>
              <a:rPr lang="en-US" sz="850" i="1" dirty="0">
                <a:solidFill>
                  <a:srgbClr val="9AA7B6"/>
                </a:solidFill>
                <a:latin typeface="Calibri" pitchFamily="34" charset="0"/>
                <a:ea typeface="Calibri" pitchFamily="34" charset="-122"/>
                <a:cs typeface="Calibri" pitchFamily="34" charset="-120"/>
              </a:rPr>
              <a:t>Source: Cognism LinkedIn Statistics,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1: The Lifecycle</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7C4DBC"/>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2</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7C4DBC"/>
                </a:solidFill>
                <a:latin typeface="Calibri" pitchFamily="34" charset="0"/>
                <a:ea typeface="Calibri" pitchFamily="34" charset="-122"/>
                <a:cs typeface="Calibri" pitchFamily="34" charset="-120"/>
              </a:rPr>
              <a:t>Visual Content</a:t>
            </a:r>
            <a:endParaRPr lang="en-US" sz="1150" dirty="0"/>
          </a:p>
        </p:txBody>
      </p:sp>
      <p:sp>
        <p:nvSpPr>
          <p:cNvPr id="5" name="Text 3"/>
          <p:cNvSpPr/>
          <p:nvPr/>
        </p:nvSpPr>
        <p:spPr>
          <a:xfrm>
            <a:off x="548640" y="932688"/>
            <a:ext cx="1115568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A Design Team In A Side Panel</a:t>
            </a:r>
            <a:endParaRPr lang="en-US" sz="2700" dirty="0"/>
          </a:p>
        </p:txBody>
      </p:sp>
      <p:sp>
        <p:nvSpPr>
          <p:cNvPr id="6" name="Text 4"/>
          <p:cNvSpPr/>
          <p:nvPr/>
        </p:nvSpPr>
        <p:spPr>
          <a:xfrm>
            <a:off x="566928" y="1536192"/>
            <a:ext cx="5313172"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Inside the post editor, the customer opens a gallery: free images harvested from the source articles, plus an AI studio that paints from the post's own research in the company palette, within a hard dollar budget. Attaching the right image is one click, and it is the single cheapest engagement lever we ship.</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7C4DBC"/>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Open the gallery; article imagery is already waiting (B3)</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7C4DBC"/>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Generate a custom image from the post's brief, on palette (B1)</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7C4DBC"/>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Refine in plain words; reuse from the library (B2)</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7C4DBC"/>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Every render prices itself against the owner's budget cap</a:t>
            </a:r>
            <a:endParaRPr lang="en-US" sz="1050" dirty="0"/>
          </a:p>
        </p:txBody>
      </p:sp>
      <p:sp>
        <p:nvSpPr>
          <p:cNvPr id="20" name="Shape 18"/>
          <p:cNvSpPr/>
          <p:nvPr/>
        </p:nvSpPr>
        <p:spPr>
          <a:xfrm>
            <a:off x="566928" y="5394960"/>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394960"/>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B1, B2, B3    |    Domain B</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 (Image Picker)</a:t>
            </a:r>
            <a:endParaRPr lang="en-US" sz="1000" dirty="0"/>
          </a:p>
        </p:txBody>
      </p:sp>
      <p:sp>
        <p:nvSpPr>
          <p:cNvPr id="26" name="Shape 24"/>
          <p:cNvSpPr/>
          <p:nvPr/>
        </p:nvSpPr>
        <p:spPr>
          <a:xfrm>
            <a:off x="6537960" y="5394960"/>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449824"/>
            <a:ext cx="132588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+98%</a:t>
            </a:r>
            <a:endParaRPr lang="en-US" sz="3300" dirty="0"/>
          </a:p>
        </p:txBody>
      </p:sp>
      <p:sp>
        <p:nvSpPr>
          <p:cNvPr id="28" name="Text 26"/>
          <p:cNvSpPr/>
          <p:nvPr/>
        </p:nvSpPr>
        <p:spPr>
          <a:xfrm>
            <a:off x="8046720" y="5468112"/>
            <a:ext cx="347472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More comments on LinkedIn posts that carry an image versus none. Video earns 5x static engagement; imagery is the floor, not the ceiling.
</a:t>
            </a:r>
            <a:r>
              <a:rPr lang="en-US" sz="850" i="1" dirty="0">
                <a:solidFill>
                  <a:srgbClr val="9AA7B6"/>
                </a:solidFill>
                <a:latin typeface="Calibri" pitchFamily="34" charset="0"/>
                <a:ea typeface="Calibri" pitchFamily="34" charset="-122"/>
                <a:cs typeface="Calibri" pitchFamily="34" charset="-120"/>
              </a:rPr>
              <a:t>Source: LinkedIn data via Cognism,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2: Visual Content</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7</a:t>
            </a:r>
            <a:endParaRPr lang="en-US" sz="900" dirty="0"/>
          </a:p>
        </p:txBody>
      </p:sp>
      <p:pic>
        <p:nvPicPr>
          <p:cNvPr id="34" name="Picture 33">
            <a:extLst>
              <a:ext uri="{FF2B5EF4-FFF2-40B4-BE49-F238E27FC236}">
                <a16:creationId xmlns:a16="http://schemas.microsoft.com/office/drawing/2014/main" id="{2C75C1F0-1E76-CC0C-FD1A-E0E522AD2E79}"/>
              </a:ext>
            </a:extLst>
          </p:cNvPr>
          <p:cNvPicPr>
            <a:picLocks noChangeAspect="1"/>
          </p:cNvPicPr>
          <p:nvPr/>
        </p:nvPicPr>
        <p:blipFill>
          <a:blip r:embed="rId3"/>
          <a:stretch>
            <a:fillRect/>
          </a:stretch>
        </p:blipFill>
        <p:spPr>
          <a:xfrm>
            <a:off x="6028730" y="73152"/>
            <a:ext cx="4455623" cy="3108960"/>
          </a:xfrm>
          <a:prstGeom prst="rect">
            <a:avLst/>
          </a:prstGeom>
        </p:spPr>
      </p:pic>
      <p:pic>
        <p:nvPicPr>
          <p:cNvPr id="36" name="Picture 35">
            <a:extLst>
              <a:ext uri="{FF2B5EF4-FFF2-40B4-BE49-F238E27FC236}">
                <a16:creationId xmlns:a16="http://schemas.microsoft.com/office/drawing/2014/main" id="{05DED3EB-72FC-4FDC-6B3B-ACF941718528}"/>
              </a:ext>
            </a:extLst>
          </p:cNvPr>
          <p:cNvPicPr>
            <a:picLocks noChangeAspect="1"/>
          </p:cNvPicPr>
          <p:nvPr/>
        </p:nvPicPr>
        <p:blipFill>
          <a:blip r:embed="rId4"/>
          <a:stretch>
            <a:fillRect/>
          </a:stretch>
        </p:blipFill>
        <p:spPr>
          <a:xfrm>
            <a:off x="7965194" y="1841246"/>
            <a:ext cx="4173792" cy="34952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C9891B"/>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3</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C9891B"/>
                </a:solidFill>
                <a:latin typeface="Calibri" pitchFamily="34" charset="0"/>
                <a:ea typeface="Calibri" pitchFamily="34" charset="-122"/>
                <a:cs typeface="Calibri" pitchFamily="34" charset="-120"/>
              </a:rPr>
              <a:t>Organization Analytics  |  Advocacy Amplification</a:t>
            </a:r>
            <a:endParaRPr lang="en-US" sz="1150" dirty="0"/>
          </a:p>
        </p:txBody>
      </p:sp>
      <p:sp>
        <p:nvSpPr>
          <p:cNvPr id="5" name="Text 3"/>
          <p:cNvSpPr/>
          <p:nvPr/>
        </p:nvSpPr>
        <p:spPr>
          <a:xfrm>
            <a:off x="548640" y="932688"/>
            <a:ext cx="5298772"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Numbers To Repeat Out Loud</a:t>
            </a:r>
            <a:endParaRPr lang="en-US" sz="2700" dirty="0"/>
          </a:p>
        </p:txBody>
      </p:sp>
      <p:sp>
        <p:nvSpPr>
          <p:cNvPr id="6" name="Text 4"/>
          <p:cNvSpPr/>
          <p:nvPr/>
        </p:nvSpPr>
        <p:spPr>
          <a:xfrm>
            <a:off x="566928" y="1536192"/>
            <a:ext cx="5760720"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The analytics page syncs real LinkedIn results: per-post metrics, topic rollups, a day-by-hour heatmap of when the audience actually engages, and follower demographics. A value not yet retrieved says so; nothing is dressed up as a zero. The one-click narrative cites every figure it states, or it refuses to render.</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C9891B"/>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Sync organization metrics on demand (E1)</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C9891B"/>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Read the heatmap; let it retune posting hours (E3)</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C9891B"/>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Generate the cited executive narrative (E2)</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C9891B"/>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Benchmark honestly against a 3.8% platform average</a:t>
            </a:r>
            <a:endParaRPr lang="en-US" sz="1050" dirty="0"/>
          </a:p>
        </p:txBody>
      </p:sp>
      <p:sp>
        <p:nvSpPr>
          <p:cNvPr id="20" name="Shape 18"/>
          <p:cNvSpPr/>
          <p:nvPr/>
        </p:nvSpPr>
        <p:spPr>
          <a:xfrm>
            <a:off x="566928" y="5403596"/>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403596"/>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E1, E2, E3    |    Domain E</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www.majikl.com/app/analytics</a:t>
            </a:r>
            <a:endParaRPr lang="en-US" sz="1000" dirty="0"/>
          </a:p>
        </p:txBody>
      </p:sp>
      <p:sp>
        <p:nvSpPr>
          <p:cNvPr id="26" name="Shape 24"/>
          <p:cNvSpPr/>
          <p:nvPr/>
        </p:nvSpPr>
        <p:spPr>
          <a:xfrm>
            <a:off x="6537960" y="5399532"/>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454396"/>
            <a:ext cx="123444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3.8%</a:t>
            </a:r>
            <a:endParaRPr lang="en-US" sz="3300" dirty="0"/>
          </a:p>
        </p:txBody>
      </p:sp>
      <p:sp>
        <p:nvSpPr>
          <p:cNvPr id="28" name="Text 26"/>
          <p:cNvSpPr/>
          <p:nvPr/>
        </p:nvSpPr>
        <p:spPr>
          <a:xfrm>
            <a:off x="7955280" y="5472684"/>
            <a:ext cx="356616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Average LinkedIn engagement rate. Our heatmap and topic rollups exist to beat the benchmark with evidence, not anecdotes.
</a:t>
            </a:r>
            <a:r>
              <a:rPr lang="en-US" sz="850" i="1" dirty="0">
                <a:solidFill>
                  <a:srgbClr val="9AA7B6"/>
                </a:solidFill>
                <a:latin typeface="Calibri" pitchFamily="34" charset="0"/>
                <a:ea typeface="Calibri" pitchFamily="34" charset="-122"/>
                <a:cs typeface="Calibri" pitchFamily="34" charset="-120"/>
              </a:rPr>
              <a:t>Source: Cognism LinkedIn Statistics,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3: Analytics</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8</a:t>
            </a:r>
            <a:endParaRPr lang="en-US" sz="900" dirty="0"/>
          </a:p>
        </p:txBody>
      </p:sp>
      <p:pic>
        <p:nvPicPr>
          <p:cNvPr id="37" name="Picture 36">
            <a:extLst>
              <a:ext uri="{FF2B5EF4-FFF2-40B4-BE49-F238E27FC236}">
                <a16:creationId xmlns:a16="http://schemas.microsoft.com/office/drawing/2014/main" id="{49A91412-EBCD-EDEE-11AD-576186A2061A}"/>
              </a:ext>
            </a:extLst>
          </p:cNvPr>
          <p:cNvPicPr>
            <a:picLocks noChangeAspect="1"/>
          </p:cNvPicPr>
          <p:nvPr/>
        </p:nvPicPr>
        <p:blipFill>
          <a:blip r:embed="rId3"/>
          <a:stretch>
            <a:fillRect/>
          </a:stretch>
        </p:blipFill>
        <p:spPr>
          <a:xfrm>
            <a:off x="6096000" y="290439"/>
            <a:ext cx="5913119" cy="50542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9C3D6E"/>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3</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9C3D6E"/>
                </a:solidFill>
                <a:latin typeface="Calibri" pitchFamily="34" charset="0"/>
                <a:ea typeface="Calibri" pitchFamily="34" charset="-122"/>
                <a:cs typeface="Calibri" pitchFamily="34" charset="-120"/>
              </a:rPr>
              <a:t>Organization Analytics  |  Advocacy Amplification</a:t>
            </a:r>
            <a:endParaRPr lang="en-US" sz="1150" dirty="0"/>
          </a:p>
        </p:txBody>
      </p:sp>
      <p:sp>
        <p:nvSpPr>
          <p:cNvPr id="5" name="Text 3"/>
          <p:cNvSpPr/>
          <p:nvPr/>
        </p:nvSpPr>
        <p:spPr>
          <a:xfrm>
            <a:off x="548640" y="932688"/>
            <a:ext cx="585216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The Reach Multiplier</a:t>
            </a:r>
            <a:endParaRPr lang="en-US" sz="2700" dirty="0"/>
          </a:p>
        </p:txBody>
      </p:sp>
      <p:sp>
        <p:nvSpPr>
          <p:cNvPr id="6" name="Text 4"/>
          <p:cNvSpPr/>
          <p:nvPr/>
        </p:nvSpPr>
        <p:spPr>
          <a:xfrm>
            <a:off x="566928" y="1536192"/>
            <a:ext cx="4698949"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One click fans a published company post into personal variants, one per consenting employee, written in each person's voice from notes they provided. Members approve their own; publishing uses their identity, never the brand's. The market math on this is the strongest in social.</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9C3D6E"/>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Select a published post; generate per-member variants (F1)</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9C3D6E"/>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Members approve, edit, or decline their own version (F2)</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9C3D6E"/>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Track activated reach v. page followers on one card (F3)</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9C3D6E"/>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Consent is architectural: joining, leaving, voiding are member-owned</a:t>
            </a:r>
            <a:endParaRPr lang="en-US" sz="1050" dirty="0"/>
          </a:p>
        </p:txBody>
      </p:sp>
      <p:sp>
        <p:nvSpPr>
          <p:cNvPr id="20" name="Shape 18"/>
          <p:cNvSpPr/>
          <p:nvPr/>
        </p:nvSpPr>
        <p:spPr>
          <a:xfrm>
            <a:off x="566928" y="5431536"/>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431536"/>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F1, F2, F3    |    Domain F</a:t>
            </a:r>
            <a:endParaRPr lang="en-US" sz="950" dirty="0"/>
          </a:p>
        </p:txBody>
      </p:sp>
      <p:sp>
        <p:nvSpPr>
          <p:cNvPr id="22" name="Shape 20"/>
          <p:cNvSpPr/>
          <p:nvPr/>
        </p:nvSpPr>
        <p:spPr>
          <a:xfrm>
            <a:off x="6537960" y="1536192"/>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www.majikl.com/app/advocacy</a:t>
            </a:r>
            <a:endParaRPr lang="en-US" sz="1000" dirty="0"/>
          </a:p>
        </p:txBody>
      </p:sp>
      <p:sp>
        <p:nvSpPr>
          <p:cNvPr id="26" name="Shape 24"/>
          <p:cNvSpPr/>
          <p:nvPr/>
        </p:nvSpPr>
        <p:spPr>
          <a:xfrm>
            <a:off x="6537960" y="5431536"/>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486400"/>
            <a:ext cx="96012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8x</a:t>
            </a:r>
            <a:endParaRPr lang="en-US" sz="3300" dirty="0"/>
          </a:p>
        </p:txBody>
      </p:sp>
      <p:sp>
        <p:nvSpPr>
          <p:cNvPr id="28" name="Text 26"/>
          <p:cNvSpPr/>
          <p:nvPr/>
        </p:nvSpPr>
        <p:spPr>
          <a:xfrm>
            <a:off x="7680960" y="5504688"/>
            <a:ext cx="384048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Engagement on employee-shared v. brand-shared content; employee networks average 10x page followers; advocacy leads convert 7x.
</a:t>
            </a:r>
            <a:r>
              <a:rPr lang="en-US" sz="850" i="1" dirty="0">
                <a:solidFill>
                  <a:srgbClr val="9AA7B6"/>
                </a:solidFill>
                <a:latin typeface="Calibri" pitchFamily="34" charset="0"/>
                <a:ea typeface="Calibri" pitchFamily="34" charset="-122"/>
                <a:cs typeface="Calibri" pitchFamily="34" charset="-120"/>
              </a:rPr>
              <a:t>Source: MSLGroup; LinkedIn; IBM</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3: Advocacy</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9</a:t>
            </a:r>
            <a:endParaRPr lang="en-US" sz="900" dirty="0"/>
          </a:p>
        </p:txBody>
      </p:sp>
      <p:pic>
        <p:nvPicPr>
          <p:cNvPr id="35" name="Picture 34">
            <a:extLst>
              <a:ext uri="{FF2B5EF4-FFF2-40B4-BE49-F238E27FC236}">
                <a16:creationId xmlns:a16="http://schemas.microsoft.com/office/drawing/2014/main" id="{4C807126-958D-0BD2-4AD4-E69DB6461D88}"/>
              </a:ext>
            </a:extLst>
          </p:cNvPr>
          <p:cNvPicPr>
            <a:picLocks noChangeAspect="1"/>
          </p:cNvPicPr>
          <p:nvPr/>
        </p:nvPicPr>
        <p:blipFill>
          <a:blip r:embed="rId3"/>
          <a:stretch>
            <a:fillRect/>
          </a:stretch>
        </p:blipFill>
        <p:spPr>
          <a:xfrm>
            <a:off x="5097785" y="795528"/>
            <a:ext cx="6975795" cy="44368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11480"/>
            <a:ext cx="1554480" cy="457200"/>
          </a:xfrm>
          <a:prstGeom prst="roundRect">
            <a:avLst>
              <a:gd name="adj" fmla="val 18000"/>
            </a:avLst>
          </a:prstGeom>
          <a:solidFill>
            <a:srgbClr val="5B6B7E"/>
          </a:solidFill>
          <a:ln/>
        </p:spPr>
        <p:txBody>
          <a:bodyPr/>
          <a:lstStyle/>
          <a:p>
            <a:endParaRPr lang="en-US"/>
          </a:p>
        </p:txBody>
      </p:sp>
      <p:sp>
        <p:nvSpPr>
          <p:cNvPr id="3" name="Text 1"/>
          <p:cNvSpPr/>
          <p:nvPr/>
        </p:nvSpPr>
        <p:spPr>
          <a:xfrm>
            <a:off x="548640" y="411480"/>
            <a:ext cx="1554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Section 4</a:t>
            </a:r>
            <a:endParaRPr lang="en-US" sz="1200" dirty="0"/>
          </a:p>
        </p:txBody>
      </p:sp>
      <p:sp>
        <p:nvSpPr>
          <p:cNvPr id="4" name="Text 2"/>
          <p:cNvSpPr/>
          <p:nvPr/>
        </p:nvSpPr>
        <p:spPr>
          <a:xfrm>
            <a:off x="2240280" y="502920"/>
            <a:ext cx="8686800" cy="292608"/>
          </a:xfrm>
          <a:prstGeom prst="rect">
            <a:avLst/>
          </a:prstGeom>
          <a:noFill/>
          <a:ln/>
        </p:spPr>
        <p:txBody>
          <a:bodyPr wrap="square" lIns="0" tIns="0" rIns="0" bIns="0" rtlCol="0" anchor="ctr"/>
          <a:lstStyle/>
          <a:p>
            <a:pPr marL="0" indent="0">
              <a:buNone/>
            </a:pPr>
            <a:r>
              <a:rPr lang="en-US" sz="1150" b="1" kern="0" spc="50" dirty="0">
                <a:solidFill>
                  <a:srgbClr val="5B6B7E"/>
                </a:solidFill>
                <a:latin typeface="Calibri" pitchFamily="34" charset="0"/>
                <a:ea typeface="Calibri" pitchFamily="34" charset="-122"/>
                <a:cs typeface="Calibri" pitchFamily="34" charset="-120"/>
              </a:rPr>
              <a:t>Capacity, Cost, Continuity</a:t>
            </a:r>
            <a:endParaRPr lang="en-US" sz="1150" dirty="0"/>
          </a:p>
        </p:txBody>
      </p:sp>
      <p:sp>
        <p:nvSpPr>
          <p:cNvPr id="5" name="Text 3"/>
          <p:cNvSpPr/>
          <p:nvPr/>
        </p:nvSpPr>
        <p:spPr>
          <a:xfrm>
            <a:off x="548640" y="932688"/>
            <a:ext cx="5989320" cy="566928"/>
          </a:xfrm>
          <a:prstGeom prst="rect">
            <a:avLst/>
          </a:prstGeom>
          <a:noFill/>
          <a:ln/>
        </p:spPr>
        <p:txBody>
          <a:bodyPr wrap="square" rtlCol="0" anchor="ctr"/>
          <a:lstStyle/>
          <a:p>
            <a:pPr marL="0" indent="0">
              <a:buNone/>
            </a:pPr>
            <a:r>
              <a:rPr lang="en-US" sz="2700" b="1" dirty="0">
                <a:solidFill>
                  <a:srgbClr val="1F2A3C"/>
                </a:solidFill>
                <a:latin typeface="Cambria" pitchFamily="34" charset="0"/>
                <a:ea typeface="Cambria" pitchFamily="34" charset="-122"/>
                <a:cs typeface="Cambria" pitchFamily="34" charset="-120"/>
              </a:rPr>
              <a:t>Scale, Cap, and Keep The Receipts</a:t>
            </a:r>
            <a:endParaRPr lang="en-US" sz="2700" dirty="0"/>
          </a:p>
        </p:txBody>
      </p:sp>
      <p:sp>
        <p:nvSpPr>
          <p:cNvPr id="6" name="Text 4"/>
          <p:cNvSpPr/>
          <p:nvPr/>
        </p:nvSpPr>
        <p:spPr>
          <a:xfrm>
            <a:off x="566928" y="1536192"/>
            <a:ext cx="5450954" cy="1051560"/>
          </a:xfrm>
          <a:prstGeom prst="rect">
            <a:avLst/>
          </a:prstGeom>
          <a:noFill/>
          <a:ln/>
        </p:spPr>
        <p:txBody>
          <a:bodyPr wrap="square" rtlCol="0" anchor="ctr"/>
          <a:lstStyle/>
          <a:p>
            <a:pPr marL="0" indent="0">
              <a:lnSpc>
                <a:spcPct val="106000"/>
              </a:lnSpc>
              <a:buNone/>
            </a:pPr>
            <a:r>
              <a:rPr lang="en-US" sz="1200" dirty="0">
                <a:solidFill>
                  <a:srgbClr val="5B6B7E"/>
                </a:solidFill>
                <a:latin typeface="Calibri" pitchFamily="34" charset="0"/>
                <a:ea typeface="Calibri" pitchFamily="34" charset="-122"/>
                <a:cs typeface="Calibri" pitchFamily="34" charset="-120"/>
              </a:rPr>
              <a:t>The admin page is where an owner runs the business side in minutes: invite editors and viewers under strict roles, choose the AI vendor and validate its key before a cent flows, watch a 30-day spend ledger by provider, and trust connections that renew themselves and complain loudly when they cannot.</a:t>
            </a:r>
            <a:endParaRPr lang="en-US" sz="1200" dirty="0"/>
          </a:p>
        </p:txBody>
      </p:sp>
      <p:sp>
        <p:nvSpPr>
          <p:cNvPr id="7" name="Text 5"/>
          <p:cNvSpPr/>
          <p:nvPr/>
        </p:nvSpPr>
        <p:spPr>
          <a:xfrm>
            <a:off x="566928" y="2651760"/>
            <a:ext cx="4572000" cy="292608"/>
          </a:xfrm>
          <a:prstGeom prst="rect">
            <a:avLst/>
          </a:prstGeom>
          <a:noFill/>
          <a:ln/>
        </p:spPr>
        <p:txBody>
          <a:bodyPr wrap="square" rtlCol="0" anchor="ctr"/>
          <a:lstStyle/>
          <a:p>
            <a:pPr marL="0" indent="0">
              <a:buNone/>
            </a:pPr>
            <a:r>
              <a:rPr lang="en-US" sz="1350" b="1" dirty="0">
                <a:solidFill>
                  <a:srgbClr val="1F2A3C"/>
                </a:solidFill>
                <a:latin typeface="Cambria" pitchFamily="34" charset="0"/>
                <a:ea typeface="Cambria" pitchFamily="34" charset="-122"/>
                <a:cs typeface="Cambria" pitchFamily="34" charset="-120"/>
              </a:rPr>
              <a:t>Usability On Screen</a:t>
            </a:r>
            <a:endParaRPr lang="en-US" sz="1350" dirty="0"/>
          </a:p>
        </p:txBody>
      </p:sp>
      <p:sp>
        <p:nvSpPr>
          <p:cNvPr id="8" name="Shape 6"/>
          <p:cNvSpPr/>
          <p:nvPr/>
        </p:nvSpPr>
        <p:spPr>
          <a:xfrm>
            <a:off x="566928" y="299923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9" name="Shape 7"/>
          <p:cNvSpPr/>
          <p:nvPr/>
        </p:nvSpPr>
        <p:spPr>
          <a:xfrm>
            <a:off x="713232" y="3127248"/>
            <a:ext cx="201168" cy="201168"/>
          </a:xfrm>
          <a:prstGeom prst="ellipse">
            <a:avLst/>
          </a:prstGeom>
          <a:solidFill>
            <a:srgbClr val="5B6B7E"/>
          </a:solidFill>
          <a:ln/>
        </p:spPr>
        <p:txBody>
          <a:bodyPr/>
          <a:lstStyle/>
          <a:p>
            <a:endParaRPr lang="en-US"/>
          </a:p>
        </p:txBody>
      </p:sp>
      <p:sp>
        <p:nvSpPr>
          <p:cNvPr id="10" name="Text 8"/>
          <p:cNvSpPr/>
          <p:nvPr/>
        </p:nvSpPr>
        <p:spPr>
          <a:xfrm>
            <a:off x="1005840" y="299923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Invite the team; roles enforce who drafts, approves, observes (G1)</a:t>
            </a:r>
            <a:endParaRPr lang="en-US" sz="1050" dirty="0"/>
          </a:p>
        </p:txBody>
      </p:sp>
      <p:sp>
        <p:nvSpPr>
          <p:cNvPr id="11" name="Shape 9"/>
          <p:cNvSpPr/>
          <p:nvPr/>
        </p:nvSpPr>
        <p:spPr>
          <a:xfrm>
            <a:off x="566928" y="354787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2" name="Shape 10"/>
          <p:cNvSpPr/>
          <p:nvPr/>
        </p:nvSpPr>
        <p:spPr>
          <a:xfrm>
            <a:off x="713232" y="3675888"/>
            <a:ext cx="201168" cy="201168"/>
          </a:xfrm>
          <a:prstGeom prst="ellipse">
            <a:avLst/>
          </a:prstGeom>
          <a:solidFill>
            <a:srgbClr val="5B6B7E"/>
          </a:solidFill>
          <a:ln/>
        </p:spPr>
        <p:txBody>
          <a:bodyPr/>
          <a:lstStyle/>
          <a:p>
            <a:endParaRPr lang="en-US"/>
          </a:p>
        </p:txBody>
      </p:sp>
      <p:sp>
        <p:nvSpPr>
          <p:cNvPr id="13" name="Text 11"/>
          <p:cNvSpPr/>
          <p:nvPr/>
        </p:nvSpPr>
        <p:spPr>
          <a:xfrm>
            <a:off x="1005840" y="354787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Bring your own AI vendor; keys validate before storage (G2)</a:t>
            </a:r>
            <a:endParaRPr lang="en-US" sz="1050" dirty="0"/>
          </a:p>
        </p:txBody>
      </p:sp>
      <p:sp>
        <p:nvSpPr>
          <p:cNvPr id="14" name="Shape 12"/>
          <p:cNvSpPr/>
          <p:nvPr/>
        </p:nvSpPr>
        <p:spPr>
          <a:xfrm>
            <a:off x="566928" y="409651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5" name="Shape 13"/>
          <p:cNvSpPr/>
          <p:nvPr/>
        </p:nvSpPr>
        <p:spPr>
          <a:xfrm>
            <a:off x="713232" y="4224528"/>
            <a:ext cx="201168" cy="201168"/>
          </a:xfrm>
          <a:prstGeom prst="ellipse">
            <a:avLst/>
          </a:prstGeom>
          <a:solidFill>
            <a:srgbClr val="5B6B7E"/>
          </a:solidFill>
          <a:ln/>
        </p:spPr>
        <p:txBody>
          <a:bodyPr/>
          <a:lstStyle/>
          <a:p>
            <a:endParaRPr lang="en-US"/>
          </a:p>
        </p:txBody>
      </p:sp>
      <p:sp>
        <p:nvSpPr>
          <p:cNvPr id="16" name="Text 14"/>
          <p:cNvSpPr/>
          <p:nvPr/>
        </p:nvSpPr>
        <p:spPr>
          <a:xfrm>
            <a:off x="1005840" y="409651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Read the spend ledger; image budgets refuse past their cap (G3)</a:t>
            </a:r>
            <a:endParaRPr lang="en-US" sz="1050" dirty="0"/>
          </a:p>
        </p:txBody>
      </p:sp>
      <p:sp>
        <p:nvSpPr>
          <p:cNvPr id="17" name="Shape 15"/>
          <p:cNvSpPr/>
          <p:nvPr/>
        </p:nvSpPr>
        <p:spPr>
          <a:xfrm>
            <a:off x="566928" y="4645152"/>
            <a:ext cx="5760720" cy="457200"/>
          </a:xfrm>
          <a:prstGeom prst="roundRect">
            <a:avLst>
              <a:gd name="adj" fmla="val 16000"/>
            </a:avLst>
          </a:prstGeom>
          <a:solidFill>
            <a:srgbClr val="F3F6F9"/>
          </a:solidFill>
          <a:ln w="9525">
            <a:solidFill>
              <a:srgbClr val="D6DEE7"/>
            </a:solidFill>
            <a:prstDash val="solid"/>
          </a:ln>
        </p:spPr>
        <p:txBody>
          <a:bodyPr/>
          <a:lstStyle/>
          <a:p>
            <a:endParaRPr lang="en-US"/>
          </a:p>
        </p:txBody>
      </p:sp>
      <p:sp>
        <p:nvSpPr>
          <p:cNvPr id="18" name="Shape 16"/>
          <p:cNvSpPr/>
          <p:nvPr/>
        </p:nvSpPr>
        <p:spPr>
          <a:xfrm>
            <a:off x="713232" y="4773168"/>
            <a:ext cx="201168" cy="201168"/>
          </a:xfrm>
          <a:prstGeom prst="ellipse">
            <a:avLst/>
          </a:prstGeom>
          <a:solidFill>
            <a:srgbClr val="5B6B7E"/>
          </a:solidFill>
          <a:ln/>
        </p:spPr>
        <p:txBody>
          <a:bodyPr/>
          <a:lstStyle/>
          <a:p>
            <a:endParaRPr lang="en-US"/>
          </a:p>
        </p:txBody>
      </p:sp>
      <p:sp>
        <p:nvSpPr>
          <p:cNvPr id="19" name="Text 17"/>
          <p:cNvSpPr/>
          <p:nvPr/>
        </p:nvSpPr>
        <p:spPr>
          <a:xfrm>
            <a:off x="1005840" y="4645152"/>
            <a:ext cx="5257800" cy="457200"/>
          </a:xfrm>
          <a:prstGeom prst="rect">
            <a:avLst/>
          </a:prstGeom>
          <a:noFill/>
          <a:ln/>
        </p:spPr>
        <p:txBody>
          <a:bodyPr wrap="square" lIns="0" tIns="0" rIns="0" bIns="0" rtlCol="0" anchor="ctr"/>
          <a:lstStyle/>
          <a:p>
            <a:pPr marL="0" indent="0">
              <a:buNone/>
            </a:pPr>
            <a:r>
              <a:rPr lang="en-US" sz="1050" dirty="0">
                <a:solidFill>
                  <a:srgbClr val="1F2A3C"/>
                </a:solidFill>
                <a:latin typeface="Calibri" pitchFamily="34" charset="0"/>
                <a:ea typeface="Calibri" pitchFamily="34" charset="-122"/>
                <a:cs typeface="Calibri" pitchFamily="34" charset="-120"/>
              </a:rPr>
              <a:t>Publishing tokens self-renew; failures surface, never silent (G4)</a:t>
            </a:r>
            <a:endParaRPr lang="en-US" sz="1050" dirty="0"/>
          </a:p>
        </p:txBody>
      </p:sp>
      <p:sp>
        <p:nvSpPr>
          <p:cNvPr id="20" name="Shape 18"/>
          <p:cNvSpPr/>
          <p:nvPr/>
        </p:nvSpPr>
        <p:spPr>
          <a:xfrm>
            <a:off x="566928" y="5303520"/>
            <a:ext cx="5760720" cy="329184"/>
          </a:xfrm>
          <a:prstGeom prst="roundRect">
            <a:avLst>
              <a:gd name="adj" fmla="val 16667"/>
            </a:avLst>
          </a:prstGeom>
          <a:solidFill>
            <a:srgbClr val="16304C"/>
          </a:solidFill>
          <a:ln/>
        </p:spPr>
        <p:txBody>
          <a:bodyPr/>
          <a:lstStyle/>
          <a:p>
            <a:endParaRPr lang="en-US"/>
          </a:p>
        </p:txBody>
      </p:sp>
      <p:sp>
        <p:nvSpPr>
          <p:cNvPr id="21" name="Text 19"/>
          <p:cNvSpPr/>
          <p:nvPr/>
        </p:nvSpPr>
        <p:spPr>
          <a:xfrm>
            <a:off x="658368" y="5303520"/>
            <a:ext cx="5577840" cy="329184"/>
          </a:xfrm>
          <a:prstGeom prst="rect">
            <a:avLst/>
          </a:prstGeom>
          <a:noFill/>
          <a:ln/>
        </p:spPr>
        <p:txBody>
          <a:bodyPr wrap="square" lIns="0" tIns="0" rIns="0" bIns="0" rtlCol="0" anchor="ctr"/>
          <a:lstStyle/>
          <a:p>
            <a:pPr marL="0" indent="0">
              <a:buNone/>
            </a:pPr>
            <a:r>
              <a:rPr lang="en-US" sz="950" b="1" dirty="0">
                <a:solidFill>
                  <a:srgbClr val="CADCFC"/>
                </a:solidFill>
                <a:latin typeface="Calibri" pitchFamily="34" charset="0"/>
                <a:ea typeface="Calibri" pitchFamily="34" charset="-122"/>
                <a:cs typeface="Calibri" pitchFamily="34" charset="-120"/>
              </a:rPr>
              <a:t>Value Streams: G1 To G4    |    Domain G</a:t>
            </a:r>
            <a:endParaRPr lang="en-US" sz="950" dirty="0"/>
          </a:p>
        </p:txBody>
      </p:sp>
      <p:sp>
        <p:nvSpPr>
          <p:cNvPr id="22" name="Shape 20"/>
          <p:cNvSpPr/>
          <p:nvPr/>
        </p:nvSpPr>
        <p:spPr>
          <a:xfrm>
            <a:off x="6499981" y="1521460"/>
            <a:ext cx="5120640" cy="3383280"/>
          </a:xfrm>
          <a:prstGeom prst="roundRect">
            <a:avLst>
              <a:gd name="adj" fmla="val 2703"/>
            </a:avLst>
          </a:prstGeom>
          <a:solidFill>
            <a:srgbClr val="FAFCFE"/>
          </a:solidFill>
          <a:ln w="19050">
            <a:solidFill>
              <a:srgbClr val="9AA7B6"/>
            </a:solidFill>
            <a:prstDash val="dash"/>
          </a:ln>
        </p:spPr>
        <p:txBody>
          <a:bodyPr/>
          <a:lstStyle/>
          <a:p>
            <a:endParaRPr lang="en-US"/>
          </a:p>
        </p:txBody>
      </p:sp>
      <p:pic>
        <p:nvPicPr>
          <p:cNvPr id="33" name="Picture 32">
            <a:extLst>
              <a:ext uri="{FF2B5EF4-FFF2-40B4-BE49-F238E27FC236}">
                <a16:creationId xmlns:a16="http://schemas.microsoft.com/office/drawing/2014/main" id="{FC396136-5334-3B99-9561-EFFB4E063992}"/>
              </a:ext>
            </a:extLst>
          </p:cNvPr>
          <p:cNvPicPr>
            <a:picLocks noChangeAspect="1"/>
          </p:cNvPicPr>
          <p:nvPr/>
        </p:nvPicPr>
        <p:blipFill>
          <a:blip r:embed="rId3"/>
          <a:stretch>
            <a:fillRect/>
          </a:stretch>
        </p:blipFill>
        <p:spPr>
          <a:xfrm>
            <a:off x="5909741" y="3222878"/>
            <a:ext cx="3655837" cy="1839087"/>
          </a:xfrm>
          <a:prstGeom prst="rect">
            <a:avLst/>
          </a:prstGeom>
        </p:spPr>
      </p:pic>
      <p:sp>
        <p:nvSpPr>
          <p:cNvPr id="23" name="Text 21"/>
          <p:cNvSpPr/>
          <p:nvPr/>
        </p:nvSpPr>
        <p:spPr>
          <a:xfrm>
            <a:off x="6537960" y="2724912"/>
            <a:ext cx="5120640" cy="457200"/>
          </a:xfrm>
          <a:prstGeom prst="rect">
            <a:avLst/>
          </a:prstGeom>
          <a:noFill/>
          <a:ln/>
        </p:spPr>
        <p:txBody>
          <a:bodyPr wrap="square" lIns="0" tIns="0" rIns="0" bIns="0" rtlCol="0" anchor="ctr"/>
          <a:lstStyle/>
          <a:p>
            <a:pPr marL="0" indent="0" algn="ctr">
              <a:buNone/>
            </a:pPr>
            <a:r>
              <a:rPr lang="en-US" sz="2200" b="1" dirty="0">
                <a:solidFill>
                  <a:srgbClr val="9AA7B6"/>
                </a:solidFill>
                <a:latin typeface="Calibri" pitchFamily="34" charset="0"/>
                <a:ea typeface="Calibri" pitchFamily="34" charset="-122"/>
                <a:cs typeface="Calibri" pitchFamily="34" charset="-120"/>
              </a:rPr>
              <a:t>[ ]</a:t>
            </a:r>
            <a:endParaRPr lang="en-US" sz="2200" dirty="0"/>
          </a:p>
        </p:txBody>
      </p:sp>
      <p:sp>
        <p:nvSpPr>
          <p:cNvPr id="24" name="Text 22"/>
          <p:cNvSpPr/>
          <p:nvPr/>
        </p:nvSpPr>
        <p:spPr>
          <a:xfrm>
            <a:off x="6537960" y="3182112"/>
            <a:ext cx="5120640" cy="292608"/>
          </a:xfrm>
          <a:prstGeom prst="rect">
            <a:avLst/>
          </a:prstGeom>
          <a:noFill/>
          <a:ln/>
        </p:spPr>
        <p:txBody>
          <a:bodyPr wrap="square" lIns="0" tIns="0" rIns="0" bIns="0" rtlCol="0" anchor="ctr"/>
          <a:lstStyle/>
          <a:p>
            <a:pPr marL="0" indent="0" algn="ctr">
              <a:buNone/>
            </a:pPr>
            <a:r>
              <a:rPr lang="en-US" sz="1150" b="1" dirty="0">
                <a:solidFill>
                  <a:srgbClr val="9AA7B6"/>
                </a:solidFill>
                <a:latin typeface="Calibri" pitchFamily="34" charset="0"/>
                <a:ea typeface="Calibri" pitchFamily="34" charset="-122"/>
                <a:cs typeface="Calibri" pitchFamily="34" charset="-120"/>
              </a:rPr>
              <a:t>Insert Screenshot</a:t>
            </a:r>
            <a:endParaRPr lang="en-US" sz="1150" dirty="0"/>
          </a:p>
        </p:txBody>
      </p:sp>
      <p:sp>
        <p:nvSpPr>
          <p:cNvPr id="25" name="Text 23"/>
          <p:cNvSpPr/>
          <p:nvPr/>
        </p:nvSpPr>
        <p:spPr>
          <a:xfrm>
            <a:off x="6537960" y="3474720"/>
            <a:ext cx="5120640" cy="274320"/>
          </a:xfrm>
          <a:prstGeom prst="rect">
            <a:avLst/>
          </a:prstGeom>
          <a:noFill/>
          <a:ln/>
        </p:spPr>
        <p:txBody>
          <a:bodyPr wrap="square" lIns="0" tIns="0" rIns="0" bIns="0" rtlCol="0" anchor="ctr"/>
          <a:lstStyle/>
          <a:p>
            <a:pPr marL="0" indent="0" algn="ctr">
              <a:buNone/>
            </a:pPr>
            <a:r>
              <a:rPr lang="en-US" sz="1000" dirty="0">
                <a:solidFill>
                  <a:srgbClr val="9AA7B6"/>
                </a:solidFill>
                <a:latin typeface="Courier New" pitchFamily="34" charset="0"/>
                <a:ea typeface="Courier New" pitchFamily="34" charset="-122"/>
                <a:cs typeface="Courier New" pitchFamily="34" charset="-120"/>
              </a:rPr>
              <a:t>www.majikl.com/app/admin</a:t>
            </a:r>
            <a:endParaRPr lang="en-US" sz="1000" dirty="0"/>
          </a:p>
        </p:txBody>
      </p:sp>
      <p:sp>
        <p:nvSpPr>
          <p:cNvPr id="26" name="Shape 24"/>
          <p:cNvSpPr/>
          <p:nvPr/>
        </p:nvSpPr>
        <p:spPr>
          <a:xfrm>
            <a:off x="6537960" y="5302631"/>
            <a:ext cx="5120640" cy="1051560"/>
          </a:xfrm>
          <a:prstGeom prst="roundRect">
            <a:avLst>
              <a:gd name="adj" fmla="val 7826"/>
            </a:avLst>
          </a:prstGeom>
          <a:solidFill>
            <a:srgbClr val="0E1C2F"/>
          </a:solidFill>
          <a:ln/>
        </p:spPr>
        <p:txBody>
          <a:bodyPr/>
          <a:lstStyle/>
          <a:p>
            <a:endParaRPr lang="en-US"/>
          </a:p>
        </p:txBody>
      </p:sp>
      <p:sp>
        <p:nvSpPr>
          <p:cNvPr id="27" name="Text 25"/>
          <p:cNvSpPr/>
          <p:nvPr/>
        </p:nvSpPr>
        <p:spPr>
          <a:xfrm>
            <a:off x="6675120" y="5357495"/>
            <a:ext cx="1234440" cy="941832"/>
          </a:xfrm>
          <a:prstGeom prst="rect">
            <a:avLst/>
          </a:prstGeom>
          <a:noFill/>
          <a:ln/>
        </p:spPr>
        <p:txBody>
          <a:bodyPr wrap="square" lIns="0" tIns="0" rIns="0" bIns="0" rtlCol="0" anchor="ctr"/>
          <a:lstStyle/>
          <a:p>
            <a:pPr marL="0" indent="0">
              <a:buNone/>
            </a:pPr>
            <a:r>
              <a:rPr lang="en-US" sz="3300" b="1" dirty="0">
                <a:solidFill>
                  <a:srgbClr val="F2B84B"/>
                </a:solidFill>
                <a:latin typeface="Cambria" pitchFamily="34" charset="0"/>
                <a:ea typeface="Cambria" pitchFamily="34" charset="-122"/>
                <a:cs typeface="Cambria" pitchFamily="34" charset="-120"/>
              </a:rPr>
              <a:t>63%</a:t>
            </a:r>
            <a:endParaRPr lang="en-US" sz="3300" dirty="0"/>
          </a:p>
        </p:txBody>
      </p:sp>
      <p:sp>
        <p:nvSpPr>
          <p:cNvPr id="28" name="Text 26"/>
          <p:cNvSpPr/>
          <p:nvPr/>
        </p:nvSpPr>
        <p:spPr>
          <a:xfrm>
            <a:off x="7955280" y="5375783"/>
            <a:ext cx="3566160" cy="91440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Higher engagement on personal profiles (2.60%) v. company pages (1.74%): the dual-audience pipeline this platform governs at zero added headcount.
</a:t>
            </a:r>
            <a:r>
              <a:rPr lang="en-US" sz="850" i="1" dirty="0">
                <a:solidFill>
                  <a:srgbClr val="9AA7B6"/>
                </a:solidFill>
                <a:latin typeface="Calibri" pitchFamily="34" charset="0"/>
                <a:ea typeface="Calibri" pitchFamily="34" charset="-122"/>
                <a:cs typeface="Calibri" pitchFamily="34" charset="-120"/>
              </a:rPr>
              <a:t>Source: Metricool LinkedIn Study, 2026</a:t>
            </a:r>
            <a:endParaRPr lang="en-US" sz="1050" dirty="0"/>
          </a:p>
        </p:txBody>
      </p:sp>
      <p:sp>
        <p:nvSpPr>
          <p:cNvPr id="29" name="Text 27"/>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30" name="Text 28"/>
          <p:cNvSpPr/>
          <p:nvPr/>
        </p:nvSpPr>
        <p:spPr>
          <a:xfrm>
            <a:off x="6327648" y="649198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Section 4: The Business Side</a:t>
            </a:r>
            <a:endParaRPr lang="en-US" sz="900" dirty="0"/>
          </a:p>
        </p:txBody>
      </p:sp>
      <p:sp>
        <p:nvSpPr>
          <p:cNvPr id="31" name="Text 29"/>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10</a:t>
            </a:r>
            <a:endParaRPr lang="en-US" sz="900" dirty="0"/>
          </a:p>
        </p:txBody>
      </p:sp>
      <p:pic>
        <p:nvPicPr>
          <p:cNvPr id="43" name="Picture 42">
            <a:extLst>
              <a:ext uri="{FF2B5EF4-FFF2-40B4-BE49-F238E27FC236}">
                <a16:creationId xmlns:a16="http://schemas.microsoft.com/office/drawing/2014/main" id="{8B53308B-FE07-47F1-A475-C45314E331A2}"/>
              </a:ext>
            </a:extLst>
          </p:cNvPr>
          <p:cNvPicPr>
            <a:picLocks noChangeAspect="1"/>
          </p:cNvPicPr>
          <p:nvPr/>
        </p:nvPicPr>
        <p:blipFill>
          <a:blip r:embed="rId4"/>
          <a:stretch>
            <a:fillRect/>
          </a:stretch>
        </p:blipFill>
        <p:spPr>
          <a:xfrm>
            <a:off x="5904150" y="75596"/>
            <a:ext cx="3488091" cy="2818576"/>
          </a:xfrm>
          <a:prstGeom prst="rect">
            <a:avLst/>
          </a:prstGeom>
        </p:spPr>
      </p:pic>
      <p:pic>
        <p:nvPicPr>
          <p:cNvPr id="39" name="Picture 38">
            <a:extLst>
              <a:ext uri="{FF2B5EF4-FFF2-40B4-BE49-F238E27FC236}">
                <a16:creationId xmlns:a16="http://schemas.microsoft.com/office/drawing/2014/main" id="{EADE066F-76B9-85B2-FF7C-FC2E20FA749F}"/>
              </a:ext>
            </a:extLst>
          </p:cNvPr>
          <p:cNvPicPr>
            <a:picLocks noChangeAspect="1"/>
          </p:cNvPicPr>
          <p:nvPr/>
        </p:nvPicPr>
        <p:blipFill>
          <a:blip r:embed="rId5"/>
          <a:stretch>
            <a:fillRect/>
          </a:stretch>
        </p:blipFill>
        <p:spPr>
          <a:xfrm>
            <a:off x="7810329" y="2532384"/>
            <a:ext cx="3075787" cy="2372356"/>
          </a:xfrm>
          <a:prstGeom prst="rect">
            <a:avLst/>
          </a:prstGeom>
        </p:spPr>
      </p:pic>
      <p:pic>
        <p:nvPicPr>
          <p:cNvPr id="37" name="Picture 36">
            <a:extLst>
              <a:ext uri="{FF2B5EF4-FFF2-40B4-BE49-F238E27FC236}">
                <a16:creationId xmlns:a16="http://schemas.microsoft.com/office/drawing/2014/main" id="{B30BC985-F777-395C-2C43-CB8892A7FF4B}"/>
              </a:ext>
            </a:extLst>
          </p:cNvPr>
          <p:cNvPicPr>
            <a:picLocks noChangeAspect="1"/>
          </p:cNvPicPr>
          <p:nvPr/>
        </p:nvPicPr>
        <p:blipFill>
          <a:blip r:embed="rId6"/>
          <a:stretch>
            <a:fillRect/>
          </a:stretch>
        </p:blipFill>
        <p:spPr>
          <a:xfrm>
            <a:off x="9392241" y="124125"/>
            <a:ext cx="2649029" cy="2482632"/>
          </a:xfrm>
          <a:prstGeom prst="rect">
            <a:avLst/>
          </a:prstGeom>
        </p:spPr>
      </p:pic>
      <p:pic>
        <p:nvPicPr>
          <p:cNvPr id="41" name="Picture 40">
            <a:extLst>
              <a:ext uri="{FF2B5EF4-FFF2-40B4-BE49-F238E27FC236}">
                <a16:creationId xmlns:a16="http://schemas.microsoft.com/office/drawing/2014/main" id="{793C2B23-8118-C26F-0109-C1C400B73712}"/>
              </a:ext>
            </a:extLst>
          </p:cNvPr>
          <p:cNvPicPr>
            <a:picLocks noChangeAspect="1"/>
          </p:cNvPicPr>
          <p:nvPr/>
        </p:nvPicPr>
        <p:blipFill>
          <a:blip r:embed="rId7"/>
          <a:stretch>
            <a:fillRect/>
          </a:stretch>
        </p:blipFill>
        <p:spPr>
          <a:xfrm>
            <a:off x="9176015" y="2605252"/>
            <a:ext cx="2692897" cy="25336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C2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rtlCol="0" anchor="ctr"/>
          <a:lstStyle/>
          <a:p>
            <a:pPr marL="0" indent="0">
              <a:buNone/>
            </a:pPr>
            <a:r>
              <a:rPr lang="en-US" sz="1200" b="1" kern="0" spc="50" dirty="0">
                <a:solidFill>
                  <a:srgbClr val="E1A029"/>
                </a:solidFill>
                <a:latin typeface="Calibri" pitchFamily="34" charset="0"/>
                <a:ea typeface="Calibri" pitchFamily="34" charset="-122"/>
                <a:cs typeface="Calibri" pitchFamily="34" charset="-120"/>
              </a:rPr>
              <a:t>The Takeaway</a:t>
            </a:r>
            <a:endParaRPr lang="en-US" sz="1200" dirty="0"/>
          </a:p>
        </p:txBody>
      </p:sp>
      <p:sp>
        <p:nvSpPr>
          <p:cNvPr id="3" name="Text 1"/>
          <p:cNvSpPr/>
          <p:nvPr/>
        </p:nvSpPr>
        <p:spPr>
          <a:xfrm>
            <a:off x="548640" y="749808"/>
            <a:ext cx="11155680" cy="5943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Usability Is The Investment Thesis</a:t>
            </a:r>
            <a:endParaRPr lang="en-US" sz="3000" dirty="0"/>
          </a:p>
        </p:txBody>
      </p:sp>
      <p:sp>
        <p:nvSpPr>
          <p:cNvPr id="4" name="Shape 2"/>
          <p:cNvSpPr/>
          <p:nvPr/>
        </p:nvSpPr>
        <p:spPr>
          <a:xfrm>
            <a:off x="548640" y="1554480"/>
            <a:ext cx="11091672" cy="914400"/>
          </a:xfrm>
          <a:prstGeom prst="roundRect">
            <a:avLst>
              <a:gd name="adj" fmla="val 9000"/>
            </a:avLst>
          </a:prstGeom>
          <a:solidFill>
            <a:srgbClr val="16304C"/>
          </a:solidFill>
          <a:ln w="9525">
            <a:solidFill>
              <a:srgbClr val="1C7293"/>
            </a:solidFill>
            <a:prstDash val="solid"/>
          </a:ln>
        </p:spPr>
        <p:txBody>
          <a:bodyPr/>
          <a:lstStyle/>
          <a:p>
            <a:endParaRPr lang="en-US"/>
          </a:p>
        </p:txBody>
      </p:sp>
      <p:sp>
        <p:nvSpPr>
          <p:cNvPr id="5" name="Text 3"/>
          <p:cNvSpPr/>
          <p:nvPr/>
        </p:nvSpPr>
        <p:spPr>
          <a:xfrm>
            <a:off x="777240" y="1645920"/>
            <a:ext cx="4846320" cy="7315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Publish constantly without a writing staff</a:t>
            </a:r>
            <a:endParaRPr lang="en-US" sz="1400" dirty="0"/>
          </a:p>
        </p:txBody>
      </p:sp>
      <p:sp>
        <p:nvSpPr>
          <p:cNvPr id="6" name="Text 4"/>
          <p:cNvSpPr/>
          <p:nvPr/>
        </p:nvSpPr>
        <p:spPr>
          <a:xfrm>
            <a:off x="5760720" y="1645920"/>
            <a:ext cx="3657600" cy="7315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Topics in, approved posts out; weekly consistency is automated</a:t>
            </a:r>
            <a:endParaRPr lang="en-US" sz="1050" dirty="0"/>
          </a:p>
        </p:txBody>
      </p:sp>
      <p:sp>
        <p:nvSpPr>
          <p:cNvPr id="7" name="Text 5"/>
          <p:cNvSpPr/>
          <p:nvPr/>
        </p:nvSpPr>
        <p:spPr>
          <a:xfrm>
            <a:off x="9509760" y="1645920"/>
            <a:ext cx="2011680" cy="731520"/>
          </a:xfrm>
          <a:prstGeom prst="rect">
            <a:avLst/>
          </a:prstGeom>
          <a:noFill/>
          <a:ln/>
        </p:spPr>
        <p:txBody>
          <a:bodyPr wrap="square" lIns="0" tIns="0" rIns="0" bIns="0" rtlCol="0" anchor="ctr"/>
          <a:lstStyle/>
          <a:p>
            <a:pPr marL="0" indent="0">
              <a:buNone/>
            </a:pPr>
            <a:r>
              <a:rPr lang="en-US" sz="1050" b="1" dirty="0">
                <a:solidFill>
                  <a:srgbClr val="F2B84B"/>
                </a:solidFill>
                <a:latin typeface="Calibri" pitchFamily="34" charset="0"/>
                <a:ea typeface="Calibri" pitchFamily="34" charset="-122"/>
                <a:cs typeface="Calibri" pitchFamily="34" charset="-120"/>
              </a:rPr>
              <a:t>2x engagement for consistent publishers</a:t>
            </a:r>
            <a:endParaRPr lang="en-US" sz="1050" dirty="0"/>
          </a:p>
        </p:txBody>
      </p:sp>
      <p:sp>
        <p:nvSpPr>
          <p:cNvPr id="8" name="Shape 6"/>
          <p:cNvSpPr/>
          <p:nvPr/>
        </p:nvSpPr>
        <p:spPr>
          <a:xfrm>
            <a:off x="548640" y="2606040"/>
            <a:ext cx="11091672" cy="914400"/>
          </a:xfrm>
          <a:prstGeom prst="roundRect">
            <a:avLst>
              <a:gd name="adj" fmla="val 9000"/>
            </a:avLst>
          </a:prstGeom>
          <a:solidFill>
            <a:srgbClr val="16304C"/>
          </a:solidFill>
          <a:ln w="9525">
            <a:solidFill>
              <a:srgbClr val="1C7293"/>
            </a:solidFill>
            <a:prstDash val="solid"/>
          </a:ln>
        </p:spPr>
        <p:txBody>
          <a:bodyPr/>
          <a:lstStyle/>
          <a:p>
            <a:endParaRPr lang="en-US"/>
          </a:p>
        </p:txBody>
      </p:sp>
      <p:sp>
        <p:nvSpPr>
          <p:cNvPr id="9" name="Text 7"/>
          <p:cNvSpPr/>
          <p:nvPr/>
        </p:nvSpPr>
        <p:spPr>
          <a:xfrm>
            <a:off x="777240" y="2697480"/>
            <a:ext cx="4846320" cy="7315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Raise engagement without a design team</a:t>
            </a:r>
            <a:endParaRPr lang="en-US" sz="1400" dirty="0"/>
          </a:p>
        </p:txBody>
      </p:sp>
      <p:sp>
        <p:nvSpPr>
          <p:cNvPr id="10" name="Text 8"/>
          <p:cNvSpPr/>
          <p:nvPr/>
        </p:nvSpPr>
        <p:spPr>
          <a:xfrm>
            <a:off x="5760720" y="2697480"/>
            <a:ext cx="3657600" cy="7315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One-click imagery from the post's own research, on budget</a:t>
            </a:r>
            <a:endParaRPr lang="en-US" sz="1050" dirty="0"/>
          </a:p>
        </p:txBody>
      </p:sp>
      <p:sp>
        <p:nvSpPr>
          <p:cNvPr id="11" name="Text 9"/>
          <p:cNvSpPr/>
          <p:nvPr/>
        </p:nvSpPr>
        <p:spPr>
          <a:xfrm>
            <a:off x="9509760" y="2697480"/>
            <a:ext cx="2011680" cy="731520"/>
          </a:xfrm>
          <a:prstGeom prst="rect">
            <a:avLst/>
          </a:prstGeom>
          <a:noFill/>
          <a:ln/>
        </p:spPr>
        <p:txBody>
          <a:bodyPr wrap="square" lIns="0" tIns="0" rIns="0" bIns="0" rtlCol="0" anchor="ctr"/>
          <a:lstStyle/>
          <a:p>
            <a:pPr marL="0" indent="0">
              <a:buNone/>
            </a:pPr>
            <a:r>
              <a:rPr lang="en-US" sz="1050" b="1" dirty="0">
                <a:solidFill>
                  <a:srgbClr val="F2B84B"/>
                </a:solidFill>
                <a:latin typeface="Calibri" pitchFamily="34" charset="0"/>
                <a:ea typeface="Calibri" pitchFamily="34" charset="-122"/>
                <a:cs typeface="Calibri" pitchFamily="34" charset="-120"/>
              </a:rPr>
              <a:t>+98% comments on image posts</a:t>
            </a:r>
            <a:endParaRPr lang="en-US" sz="1050" dirty="0"/>
          </a:p>
        </p:txBody>
      </p:sp>
      <p:sp>
        <p:nvSpPr>
          <p:cNvPr id="12" name="Shape 10"/>
          <p:cNvSpPr/>
          <p:nvPr/>
        </p:nvSpPr>
        <p:spPr>
          <a:xfrm>
            <a:off x="548640" y="3657600"/>
            <a:ext cx="11091672" cy="914400"/>
          </a:xfrm>
          <a:prstGeom prst="roundRect">
            <a:avLst>
              <a:gd name="adj" fmla="val 9000"/>
            </a:avLst>
          </a:prstGeom>
          <a:solidFill>
            <a:srgbClr val="16304C"/>
          </a:solidFill>
          <a:ln w="9525">
            <a:solidFill>
              <a:srgbClr val="1C7293"/>
            </a:solidFill>
            <a:prstDash val="solid"/>
          </a:ln>
        </p:spPr>
        <p:txBody>
          <a:bodyPr/>
          <a:lstStyle/>
          <a:p>
            <a:endParaRPr lang="en-US"/>
          </a:p>
        </p:txBody>
      </p:sp>
      <p:sp>
        <p:nvSpPr>
          <p:cNvPr id="13" name="Text 11"/>
          <p:cNvSpPr/>
          <p:nvPr/>
        </p:nvSpPr>
        <p:spPr>
          <a:xfrm>
            <a:off x="777240" y="3749040"/>
            <a:ext cx="4846320" cy="7315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Multiply reach through our own people</a:t>
            </a:r>
            <a:endParaRPr lang="en-US" sz="1400" dirty="0"/>
          </a:p>
        </p:txBody>
      </p:sp>
      <p:sp>
        <p:nvSpPr>
          <p:cNvPr id="14" name="Text 12"/>
          <p:cNvSpPr/>
          <p:nvPr/>
        </p:nvSpPr>
        <p:spPr>
          <a:xfrm>
            <a:off x="5760720" y="3749040"/>
            <a:ext cx="3657600" cy="7315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Consent-first variants in every employee's voice</a:t>
            </a:r>
            <a:endParaRPr lang="en-US" sz="1050" dirty="0"/>
          </a:p>
        </p:txBody>
      </p:sp>
      <p:sp>
        <p:nvSpPr>
          <p:cNvPr id="15" name="Text 13"/>
          <p:cNvSpPr/>
          <p:nvPr/>
        </p:nvSpPr>
        <p:spPr>
          <a:xfrm>
            <a:off x="9509760" y="3749040"/>
            <a:ext cx="2011680" cy="731520"/>
          </a:xfrm>
          <a:prstGeom prst="rect">
            <a:avLst/>
          </a:prstGeom>
          <a:noFill/>
          <a:ln/>
        </p:spPr>
        <p:txBody>
          <a:bodyPr wrap="square" lIns="0" tIns="0" rIns="0" bIns="0" rtlCol="0" anchor="ctr"/>
          <a:lstStyle/>
          <a:p>
            <a:pPr marL="0" indent="0">
              <a:buNone/>
            </a:pPr>
            <a:r>
              <a:rPr lang="en-US" sz="1050" b="1" dirty="0">
                <a:solidFill>
                  <a:srgbClr val="F2B84B"/>
                </a:solidFill>
                <a:latin typeface="Calibri" pitchFamily="34" charset="0"/>
                <a:ea typeface="Calibri" pitchFamily="34" charset="-122"/>
                <a:cs typeface="Calibri" pitchFamily="34" charset="-120"/>
              </a:rPr>
              <a:t>8x engagement, 10x network, 7x conversion</a:t>
            </a:r>
            <a:endParaRPr lang="en-US" sz="1050" dirty="0"/>
          </a:p>
        </p:txBody>
      </p:sp>
      <p:sp>
        <p:nvSpPr>
          <p:cNvPr id="16" name="Shape 14"/>
          <p:cNvSpPr/>
          <p:nvPr/>
        </p:nvSpPr>
        <p:spPr>
          <a:xfrm>
            <a:off x="548640" y="4709160"/>
            <a:ext cx="11091672" cy="914400"/>
          </a:xfrm>
          <a:prstGeom prst="roundRect">
            <a:avLst>
              <a:gd name="adj" fmla="val 9000"/>
            </a:avLst>
          </a:prstGeom>
          <a:solidFill>
            <a:srgbClr val="16304C"/>
          </a:solidFill>
          <a:ln w="9525">
            <a:solidFill>
              <a:srgbClr val="1C7293"/>
            </a:solidFill>
            <a:prstDash val="solid"/>
          </a:ln>
        </p:spPr>
        <p:txBody>
          <a:bodyPr/>
          <a:lstStyle/>
          <a:p>
            <a:endParaRPr lang="en-US"/>
          </a:p>
        </p:txBody>
      </p:sp>
      <p:sp>
        <p:nvSpPr>
          <p:cNvPr id="17" name="Text 15"/>
          <p:cNvSpPr/>
          <p:nvPr/>
        </p:nvSpPr>
        <p:spPr>
          <a:xfrm>
            <a:off x="777240" y="4800600"/>
            <a:ext cx="4846320" cy="731520"/>
          </a:xfrm>
          <a:prstGeom prst="rect">
            <a:avLst/>
          </a:prstGeom>
          <a:noFill/>
          <a:ln/>
        </p:spPr>
        <p:txBody>
          <a:bodyPr wrap="square" lIns="0" tIns="0" rIns="0" bIns="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Scale while controlling spend, risk</a:t>
            </a:r>
            <a:endParaRPr lang="en-US" sz="1400" dirty="0"/>
          </a:p>
        </p:txBody>
      </p:sp>
      <p:sp>
        <p:nvSpPr>
          <p:cNvPr id="18" name="Text 16"/>
          <p:cNvSpPr/>
          <p:nvPr/>
        </p:nvSpPr>
        <p:spPr>
          <a:xfrm>
            <a:off x="5760720" y="4800600"/>
            <a:ext cx="3657600" cy="73152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Roles, validated keys, budgets, self-healing connections</a:t>
            </a:r>
            <a:endParaRPr lang="en-US" sz="1050" dirty="0"/>
          </a:p>
        </p:txBody>
      </p:sp>
      <p:sp>
        <p:nvSpPr>
          <p:cNvPr id="19" name="Text 17"/>
          <p:cNvSpPr/>
          <p:nvPr/>
        </p:nvSpPr>
        <p:spPr>
          <a:xfrm>
            <a:off x="9509760" y="4800600"/>
            <a:ext cx="2011680" cy="731520"/>
          </a:xfrm>
          <a:prstGeom prst="rect">
            <a:avLst/>
          </a:prstGeom>
          <a:noFill/>
          <a:ln/>
        </p:spPr>
        <p:txBody>
          <a:bodyPr wrap="square" lIns="0" tIns="0" rIns="0" bIns="0" rtlCol="0" anchor="ctr"/>
          <a:lstStyle/>
          <a:p>
            <a:pPr marL="0" indent="0">
              <a:buNone/>
            </a:pPr>
            <a:r>
              <a:rPr lang="en-US" sz="1050" b="1" dirty="0">
                <a:solidFill>
                  <a:srgbClr val="F2B84B"/>
                </a:solidFill>
                <a:latin typeface="Calibri" pitchFamily="34" charset="0"/>
                <a:ea typeface="Calibri" pitchFamily="34" charset="-122"/>
                <a:cs typeface="Calibri" pitchFamily="34" charset="-120"/>
              </a:rPr>
              <a:t>Zero surprise invoices by design</a:t>
            </a:r>
            <a:endParaRPr lang="en-US" sz="1050" dirty="0"/>
          </a:p>
        </p:txBody>
      </p:sp>
      <p:sp>
        <p:nvSpPr>
          <p:cNvPr id="20" name="Text 18"/>
          <p:cNvSpPr/>
          <p:nvPr/>
        </p:nvSpPr>
        <p:spPr>
          <a:xfrm>
            <a:off x="548640" y="5943600"/>
            <a:ext cx="11064240" cy="365760"/>
          </a:xfrm>
          <a:prstGeom prst="rect">
            <a:avLst/>
          </a:prstGeom>
          <a:noFill/>
          <a:ln/>
        </p:spPr>
        <p:txBody>
          <a:bodyPr wrap="square" rtlCol="0" anchor="ctr"/>
          <a:lstStyle/>
          <a:p>
            <a:pPr marL="0" indent="0">
              <a:buNone/>
            </a:pPr>
            <a:r>
              <a:rPr lang="en-US" sz="950" i="1" dirty="0">
                <a:solidFill>
                  <a:srgbClr val="9AA7B6"/>
                </a:solidFill>
                <a:latin typeface="Calibri" pitchFamily="34" charset="0"/>
                <a:ea typeface="Calibri" pitchFamily="34" charset="-122"/>
                <a:cs typeface="Calibri" pitchFamily="34" charset="-120"/>
              </a:rPr>
              <a:t>Metrics: Cognism LinkedIn Statistics 2026; MSLGroup Social Employee Advocacy Study; IBM Social Selling Case Study; Metricool LinkedIn Study 2026.</a:t>
            </a:r>
            <a:endParaRPr lang="en-US" sz="950" dirty="0"/>
          </a:p>
        </p:txBody>
      </p:sp>
      <p:sp>
        <p:nvSpPr>
          <p:cNvPr id="21" name="Text 19"/>
          <p:cNvSpPr/>
          <p:nvPr/>
        </p:nvSpPr>
        <p:spPr>
          <a:xfrm>
            <a:off x="457200" y="6528816"/>
            <a:ext cx="5029200" cy="256032"/>
          </a:xfrm>
          <a:prstGeom prst="rect">
            <a:avLst/>
          </a:prstGeom>
          <a:noFill/>
          <a:ln/>
        </p:spPr>
        <p:txBody>
          <a:bodyPr wrap="square" rtlCol="0" anchor="ctr"/>
          <a:lstStyle/>
          <a:p>
            <a:pPr marL="0" indent="0">
              <a:buNone/>
            </a:pPr>
            <a:r>
              <a:rPr lang="en-US" sz="900" dirty="0">
                <a:solidFill>
                  <a:srgbClr val="9AA7B6"/>
                </a:solidFill>
                <a:latin typeface="Calibri" pitchFamily="34" charset="0"/>
                <a:ea typeface="Calibri" pitchFamily="34" charset="-122"/>
                <a:cs typeface="Calibri" pitchFamily="34" charset="-120"/>
              </a:rPr>
              <a:t>Market Intelligence  |  Shareholder Briefing</a:t>
            </a:r>
            <a:endParaRPr lang="en-US" sz="900" dirty="0"/>
          </a:p>
        </p:txBody>
      </p:sp>
      <p:sp>
        <p:nvSpPr>
          <p:cNvPr id="22" name="Text 20"/>
          <p:cNvSpPr/>
          <p:nvPr/>
        </p:nvSpPr>
        <p:spPr>
          <a:xfrm>
            <a:off x="6400800" y="6528816"/>
            <a:ext cx="466344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The Takeaway</a:t>
            </a:r>
            <a:endParaRPr lang="en-US" sz="900" dirty="0"/>
          </a:p>
        </p:txBody>
      </p:sp>
      <p:sp>
        <p:nvSpPr>
          <p:cNvPr id="23" name="Text 21"/>
          <p:cNvSpPr/>
          <p:nvPr/>
        </p:nvSpPr>
        <p:spPr>
          <a:xfrm>
            <a:off x="11503152" y="6528816"/>
            <a:ext cx="365760" cy="256032"/>
          </a:xfrm>
          <a:prstGeom prst="rect">
            <a:avLst/>
          </a:prstGeom>
          <a:noFill/>
          <a:ln/>
        </p:spPr>
        <p:txBody>
          <a:bodyPr wrap="square" rtlCol="0" anchor="ctr"/>
          <a:lstStyle/>
          <a:p>
            <a:pPr marL="0" indent="0" algn="r">
              <a:buNone/>
            </a:pPr>
            <a:r>
              <a:rPr lang="en-US" sz="900" dirty="0">
                <a:solidFill>
                  <a:srgbClr val="9AA7B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536029D-6D24-6A69-0069-61A8BC7745D6}"/>
              </a:ext>
            </a:extLst>
          </p:cNvPr>
          <p:cNvPicPr>
            <a:picLocks noChangeAspect="1"/>
          </p:cNvPicPr>
          <p:nvPr/>
        </p:nvPicPr>
        <p:blipFill>
          <a:blip r:embed="rId2"/>
          <a:stretch>
            <a:fillRect/>
          </a:stretch>
        </p:blipFill>
        <p:spPr>
          <a:xfrm>
            <a:off x="77448" y="59960"/>
            <a:ext cx="6702747" cy="4691922"/>
          </a:xfrm>
          <a:prstGeom prst="rect">
            <a:avLst/>
          </a:prstGeom>
        </p:spPr>
      </p:pic>
      <p:pic>
        <p:nvPicPr>
          <p:cNvPr id="10" name="Picture 9">
            <a:extLst>
              <a:ext uri="{FF2B5EF4-FFF2-40B4-BE49-F238E27FC236}">
                <a16:creationId xmlns:a16="http://schemas.microsoft.com/office/drawing/2014/main" id="{7D0989FF-2492-2651-616A-996313F0CBC5}"/>
              </a:ext>
            </a:extLst>
          </p:cNvPr>
          <p:cNvPicPr>
            <a:picLocks noChangeAspect="1"/>
          </p:cNvPicPr>
          <p:nvPr/>
        </p:nvPicPr>
        <p:blipFill>
          <a:blip r:embed="rId3"/>
          <a:stretch>
            <a:fillRect/>
          </a:stretch>
        </p:blipFill>
        <p:spPr>
          <a:xfrm>
            <a:off x="6780195" y="0"/>
            <a:ext cx="2766518" cy="2263515"/>
          </a:xfrm>
          <a:prstGeom prst="rect">
            <a:avLst/>
          </a:prstGeom>
        </p:spPr>
      </p:pic>
      <p:pic>
        <p:nvPicPr>
          <p:cNvPr id="12" name="Picture 11">
            <a:extLst>
              <a:ext uri="{FF2B5EF4-FFF2-40B4-BE49-F238E27FC236}">
                <a16:creationId xmlns:a16="http://schemas.microsoft.com/office/drawing/2014/main" id="{2766DF57-0EB5-732E-C1A5-DC1456252125}"/>
              </a:ext>
            </a:extLst>
          </p:cNvPr>
          <p:cNvPicPr>
            <a:picLocks noChangeAspect="1"/>
          </p:cNvPicPr>
          <p:nvPr/>
        </p:nvPicPr>
        <p:blipFill>
          <a:blip r:embed="rId4"/>
          <a:stretch>
            <a:fillRect/>
          </a:stretch>
        </p:blipFill>
        <p:spPr>
          <a:xfrm>
            <a:off x="9308916" y="337278"/>
            <a:ext cx="2720959" cy="1588957"/>
          </a:xfrm>
          <a:prstGeom prst="rect">
            <a:avLst/>
          </a:prstGeom>
        </p:spPr>
      </p:pic>
      <p:sp>
        <p:nvSpPr>
          <p:cNvPr id="13" name="TextBox 12">
            <a:extLst>
              <a:ext uri="{FF2B5EF4-FFF2-40B4-BE49-F238E27FC236}">
                <a16:creationId xmlns:a16="http://schemas.microsoft.com/office/drawing/2014/main" id="{41AF051D-8E5B-D28E-D530-60591B0CE2EA}"/>
              </a:ext>
            </a:extLst>
          </p:cNvPr>
          <p:cNvSpPr txBox="1"/>
          <p:nvPr/>
        </p:nvSpPr>
        <p:spPr>
          <a:xfrm>
            <a:off x="7438030" y="2715903"/>
            <a:ext cx="2620370" cy="646331"/>
          </a:xfrm>
          <a:prstGeom prst="rect">
            <a:avLst/>
          </a:prstGeom>
          <a:noFill/>
        </p:spPr>
        <p:txBody>
          <a:bodyPr wrap="square" rtlCol="0">
            <a:spAutoFit/>
          </a:bodyPr>
          <a:lstStyle/>
          <a:p>
            <a:r>
              <a:rPr lang="en-US" dirty="0"/>
              <a:t>OpEx Development Costs</a:t>
            </a:r>
          </a:p>
          <a:p>
            <a:r>
              <a:rPr lang="en-US" dirty="0"/>
              <a:t>$200 / month</a:t>
            </a:r>
          </a:p>
        </p:txBody>
      </p:sp>
    </p:spTree>
    <p:extLst>
      <p:ext uri="{BB962C8B-B14F-4D97-AF65-F5344CB8AC3E}">
        <p14:creationId xmlns:p14="http://schemas.microsoft.com/office/powerpoint/2010/main" val="42174522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TotalTime>
  <Words>3389</Words>
  <Application>Microsoft Macintosh PowerPoint</Application>
  <PresentationFormat>Widescreen</PresentationFormat>
  <Paragraphs>220</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Intelligence: Functional Value Streams For Shareholders</dc:title>
  <dc:subject>PptxGenJS Presentation</dc:subject>
  <dc:creator>Market Intelligence</dc:creator>
  <cp:keywords/>
  <dc:description/>
  <cp:lastModifiedBy>Brandon R. India</cp:lastModifiedBy>
  <cp:revision>9</cp:revision>
  <dcterms:created xsi:type="dcterms:W3CDTF">2026-08-09T21:19:01Z</dcterms:created>
  <dcterms:modified xsi:type="dcterms:W3CDTF">2026-08-10T14:57:44Z</dcterms:modified>
  <cp:category/>
</cp:coreProperties>
</file>